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notesMasterIdLst>
    <p:notesMasterId r:id="rId92"/>
  </p:notesMasterIdLst>
  <p:sldIdLst>
    <p:sldId id="256" r:id="rId2"/>
    <p:sldId id="284" r:id="rId3"/>
    <p:sldId id="281" r:id="rId4"/>
    <p:sldId id="282" r:id="rId5"/>
    <p:sldId id="283" r:id="rId6"/>
    <p:sldId id="258" r:id="rId7"/>
    <p:sldId id="260" r:id="rId8"/>
    <p:sldId id="261" r:id="rId9"/>
    <p:sldId id="285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352" r:id="rId22"/>
    <p:sldId id="353" r:id="rId23"/>
    <p:sldId id="354" r:id="rId24"/>
    <p:sldId id="355" r:id="rId25"/>
    <p:sldId id="286" r:id="rId26"/>
    <p:sldId id="276" r:id="rId27"/>
    <p:sldId id="277" r:id="rId28"/>
    <p:sldId id="278" r:id="rId29"/>
    <p:sldId id="279" r:id="rId30"/>
    <p:sldId id="280" r:id="rId31"/>
    <p:sldId id="287" r:id="rId32"/>
    <p:sldId id="288" r:id="rId33"/>
    <p:sldId id="289" r:id="rId34"/>
    <p:sldId id="290" r:id="rId35"/>
    <p:sldId id="291" r:id="rId36"/>
    <p:sldId id="356" r:id="rId37"/>
    <p:sldId id="326" r:id="rId38"/>
    <p:sldId id="325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47" r:id="rId52"/>
    <p:sldId id="305" r:id="rId53"/>
    <p:sldId id="308" r:id="rId54"/>
    <p:sldId id="307" r:id="rId55"/>
    <p:sldId id="306" r:id="rId56"/>
    <p:sldId id="309" r:id="rId57"/>
    <p:sldId id="311" r:id="rId58"/>
    <p:sldId id="312" r:id="rId59"/>
    <p:sldId id="313" r:id="rId60"/>
    <p:sldId id="314" r:id="rId61"/>
    <p:sldId id="315" r:id="rId62"/>
    <p:sldId id="316" r:id="rId63"/>
    <p:sldId id="318" r:id="rId64"/>
    <p:sldId id="319" r:id="rId65"/>
    <p:sldId id="317" r:id="rId66"/>
    <p:sldId id="320" r:id="rId67"/>
    <p:sldId id="321" r:id="rId68"/>
    <p:sldId id="322" r:id="rId69"/>
    <p:sldId id="323" r:id="rId70"/>
    <p:sldId id="324" r:id="rId71"/>
    <p:sldId id="327" r:id="rId72"/>
    <p:sldId id="336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7" r:id="rId81"/>
    <p:sldId id="338" r:id="rId82"/>
    <p:sldId id="339" r:id="rId83"/>
    <p:sldId id="340" r:id="rId84"/>
    <p:sldId id="345" r:id="rId85"/>
    <p:sldId id="342" r:id="rId86"/>
    <p:sldId id="341" r:id="rId87"/>
    <p:sldId id="343" r:id="rId88"/>
    <p:sldId id="350" r:id="rId89"/>
    <p:sldId id="357" r:id="rId90"/>
    <p:sldId id="346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5C00B-D55D-4EFE-8978-48DDB32B923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698-626B-44AF-BB71-5C07A3108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2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CIFAR LINK https://www.cs.toronto.edu/~kriz/cifar.html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05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Što to znači:</a:t>
            </a:r>
            <a:endParaRPr lang="hr-HR" dirty="0"/>
          </a:p>
          <a:p>
            <a:r>
              <a:rPr lang="hr-HR" b="1" dirty="0"/>
              <a:t>Supervised (baseline ~66%)</a:t>
            </a:r>
            <a:br>
              <a:rPr lang="hr-HR" dirty="0"/>
            </a:br>
            <a:r>
              <a:rPr lang="hr-HR" dirty="0"/>
              <a:t>-&gt; Ovo je performansa kad koristimo SAMO 4000 označenih primjera.</a:t>
            </a:r>
          </a:p>
          <a:p>
            <a:r>
              <a:rPr lang="hr-HR" b="1" dirty="0"/>
              <a:t>Pseudo-Label (~65.5%)</a:t>
            </a:r>
            <a:br>
              <a:rPr lang="hr-HR" dirty="0"/>
            </a:br>
            <a:r>
              <a:rPr lang="hr-HR" dirty="0"/>
              <a:t>-&gt; Radi otprilike isto kao supervised – očito pseudo-labeli nisu puno pomogli, ali ni ne kvare stvar.</a:t>
            </a:r>
          </a:p>
          <a:p>
            <a:r>
              <a:rPr lang="hr-HR" b="1" dirty="0"/>
              <a:t>Pi-Model (~67.6%)</a:t>
            </a:r>
            <a:br>
              <a:rPr lang="hr-HR" dirty="0"/>
            </a:br>
            <a:r>
              <a:rPr lang="hr-HR" dirty="0"/>
              <a:t>-&gt; Blago, ali stabilno poboljšanje preko superviseda.</a:t>
            </a:r>
            <a:br>
              <a:rPr lang="hr-HR" dirty="0"/>
            </a:br>
            <a:r>
              <a:rPr lang="hr-HR" dirty="0"/>
              <a:t>To je lijep rezultat: </a:t>
            </a:r>
            <a:r>
              <a:rPr lang="hr-HR" b="1" dirty="0"/>
              <a:t>consistency regularization</a:t>
            </a:r>
            <a:r>
              <a:rPr lang="hr-HR" dirty="0"/>
              <a:t> očito pomaže iskoristiti unlabeled podatke.</a:t>
            </a:r>
          </a:p>
          <a:p>
            <a:r>
              <a:rPr lang="hr-HR" b="1" dirty="0"/>
              <a:t>Co-Training (~48.4%)</a:t>
            </a:r>
            <a:br>
              <a:rPr lang="hr-HR" dirty="0"/>
            </a:br>
            <a:r>
              <a:rPr lang="hr-HR" dirty="0"/>
              <a:t>-&gt; Znatno LOŠIJE od superviseda → dva modela si vjerojatno međusobno šire loše pseudo-label-e (confirmation bias).</a:t>
            </a:r>
          </a:p>
          <a:p>
            <a:r>
              <a:rPr lang="hr-HR" b="1" dirty="0"/>
              <a:t>MixMatch (~10.1%)</a:t>
            </a:r>
            <a:br>
              <a:rPr lang="hr-HR" dirty="0"/>
            </a:br>
            <a:r>
              <a:rPr lang="hr-HR" dirty="0"/>
              <a:t>-&gt; To je praktički </a:t>
            </a:r>
            <a:r>
              <a:rPr lang="hr-HR" b="1" dirty="0"/>
              <a:t>random guess (1/10 klasa)</a:t>
            </a:r>
            <a:r>
              <a:rPr lang="hr-HR" dirty="0"/>
              <a:t> → naša </a:t>
            </a:r>
            <a:r>
              <a:rPr lang="hr-HR" i="1" dirty="0"/>
              <a:t>pojednostavljena implementacija i hyperparametri su ovdje “pukli”</a:t>
            </a:r>
            <a:r>
              <a:rPr lang="hr-HR" dirty="0"/>
              <a:t>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86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Implementirali smo nekoliko semi-supervised metoda i pratili metrike tijekom treninga (loss i test accuracy po epohi).</a:t>
            </a:r>
            <a:br>
              <a:rPr lang="hr-HR" dirty="0"/>
            </a:br>
            <a:r>
              <a:rPr lang="hr-HR" dirty="0"/>
              <a:t>Supervised i Pi-Model daju oko 66–68% točnosti, Pseudo-Label je blizu supervisedu, dok Co-Training čak degradira performanse na oko 48% zbog širenja pogrešnih pseudo-labela.</a:t>
            </a:r>
            <a:br>
              <a:rPr lang="hr-HR" dirty="0"/>
            </a:br>
            <a:r>
              <a:rPr lang="hr-HR" dirty="0"/>
              <a:t>MixMatch, u našoj pojednostavljenoj implementaciji i bez pažljivog podešavanja hiperparametara, ostaje na oko 10% – što je razina slučajnog pogađanja (1 od 10 klasa).</a:t>
            </a:r>
            <a:br>
              <a:rPr lang="hr-HR" dirty="0"/>
            </a:br>
            <a:r>
              <a:rPr lang="hr-HR" dirty="0"/>
              <a:t>To nam je dobar primjer kako je kod kompleksnijih semi-supervised metoda </a:t>
            </a:r>
            <a:r>
              <a:rPr lang="hr-HR" b="1" dirty="0"/>
              <a:t>praćenje metrika i evaluacija ključno</a:t>
            </a:r>
            <a:r>
              <a:rPr lang="hr-HR" dirty="0"/>
              <a:t>: bez toga ne bismo ni primijetili da MixMatch u ovoj konfiguraciji zapravo uopće ne uči.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55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04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Pi-Model – Najbolja semi-supervised metoda</a:t>
            </a:r>
          </a:p>
          <a:p>
            <a:r>
              <a:rPr lang="hr-HR" dirty="0"/>
              <a:t>Najviša test točnost među semi-supervised metodama (~68%).</a:t>
            </a:r>
          </a:p>
          <a:p>
            <a:r>
              <a:rPr lang="hr-HR" dirty="0"/>
              <a:t>Ključni razlog uspjeha je </a:t>
            </a:r>
            <a:r>
              <a:rPr lang="hr-HR" b="1" dirty="0"/>
              <a:t>consistency regularization</a:t>
            </a:r>
            <a:r>
              <a:rPr lang="hr-HR" dirty="0"/>
              <a:t> – model uči davati stabilne predikcije pod različitim augmentacijama.</a:t>
            </a:r>
          </a:p>
          <a:p>
            <a:r>
              <a:rPr lang="hr-HR" dirty="0"/>
              <a:t>Za razliku od pseudo-labelinga ili co-traininga, Pi-Model </a:t>
            </a:r>
            <a:r>
              <a:rPr lang="hr-HR" b="1" dirty="0"/>
              <a:t>ne ovisi o ranim predikcijama</a:t>
            </a:r>
            <a:r>
              <a:rPr lang="hr-HR" dirty="0"/>
              <a:t> → manje širenja pogrešaka.</a:t>
            </a:r>
          </a:p>
          <a:p>
            <a:r>
              <a:rPr lang="hr-HR" dirty="0"/>
              <a:t>U praksi je vrlo robustan čak i uz mali labeled set.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15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28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Ako imamo sliku </a:t>
            </a:r>
            <a:r>
              <a:rPr lang="hr-H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bigla</a:t>
            </a: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, uzmemo dvije jake augmentacije: </a:t>
            </a:r>
            <a:r>
              <a:rPr lang="hr-H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croop</a:t>
            </a: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hr-H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blur</a:t>
            </a: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hr-HR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grayscale,jitter</a:t>
            </a: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</a:p>
          <a:p>
            <a:pPr>
              <a:lnSpc>
                <a:spcPct val="150000"/>
              </a:lnSpc>
            </a:pP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One su pozitivan par. Ista instanca</a:t>
            </a:r>
          </a:p>
          <a:p>
            <a:pPr>
              <a:lnSpc>
                <a:spcPct val="150000"/>
              </a:lnSpc>
            </a:pPr>
            <a:endParaRPr lang="hr-H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Ako imamo sliku automobila-to je negativan primjer jer predstavlja drugu instancu   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r-H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70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Više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dirty="0">
                <a:latin typeface="Segoe UI" panose="020B0502040204020203" pitchFamily="34" charset="0"/>
                <a:cs typeface="Segoe UI" panose="020B0502040204020203" pitchFamily="34" charset="0"/>
              </a:rPr>
              <a:t>negativnih parova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stabilniji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signal.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Optimizacija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trikovi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iz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originalnog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rada</a:t>
            </a:r>
          </a:p>
          <a:p>
            <a:endParaRPr lang="en-US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69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r-HR" sz="120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imCLR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je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moćan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ali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preskup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stvarne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sustave</a:t>
            </a:r>
            <a:endParaRPr lang="hr-H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Kasnije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rješavaju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njegova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ograničenja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čine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SSL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dostupnim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svima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75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učna poruka:</a:t>
            </a:r>
            <a:endParaRPr lang="hr-HR" dirty="0"/>
          </a:p>
          <a:p>
            <a:r>
              <a:rPr lang="hr-HR" dirty="0"/>
              <a:t>Iako SimCLR encoder </a:t>
            </a:r>
            <a:r>
              <a:rPr lang="hr-HR" i="1" dirty="0"/>
              <a:t>nikad nije vidio labele</a:t>
            </a:r>
            <a:r>
              <a:rPr lang="hr-HR" dirty="0"/>
              <a:t> tijekom pretreniranja,</a:t>
            </a:r>
            <a:br>
              <a:rPr lang="hr-HR" dirty="0"/>
            </a:br>
            <a:r>
              <a:rPr lang="hr-HR" dirty="0"/>
              <a:t>kad mu dodamo samo linearni sloj i malo nadzora,</a:t>
            </a:r>
            <a:br>
              <a:rPr lang="hr-HR" dirty="0"/>
            </a:br>
            <a:r>
              <a:rPr lang="hr-HR" dirty="0"/>
              <a:t>dobivamo </a:t>
            </a:r>
            <a:r>
              <a:rPr lang="hr-HR" b="1" dirty="0"/>
              <a:t>53% točnosti</a:t>
            </a:r>
            <a:r>
              <a:rPr lang="hr-HR" dirty="0"/>
              <a:t> na CIFAR-10.</a:t>
            </a:r>
          </a:p>
          <a:p>
            <a:r>
              <a:rPr lang="hr-HR" dirty="0"/>
              <a:t>U režimu s malo labela (</a:t>
            </a:r>
            <a:r>
              <a:rPr lang="hr-HR" b="1" dirty="0"/>
              <a:t>100 labeliranih slika po klasi</a:t>
            </a:r>
            <a:r>
              <a:rPr lang="hr-HR" dirty="0"/>
              <a:t>),</a:t>
            </a:r>
            <a:br>
              <a:rPr lang="hr-HR" dirty="0"/>
            </a:br>
            <a:r>
              <a:rPr lang="hr-HR" b="1" dirty="0"/>
              <a:t>self-supervised encoder (45.7%)</a:t>
            </a:r>
            <a:r>
              <a:rPr lang="hr-HR" dirty="0"/>
              <a:t> je više nego </a:t>
            </a:r>
            <a:r>
              <a:rPr lang="hr-HR" b="1" dirty="0"/>
              <a:t>dvostruko bolji</a:t>
            </a:r>
            <a:r>
              <a:rPr lang="hr-HR" dirty="0"/>
              <a:t> od </a:t>
            </a:r>
            <a:r>
              <a:rPr lang="hr-HR" b="1" dirty="0"/>
              <a:t>random encodera (22.5%)</a:t>
            </a:r>
            <a:r>
              <a:rPr lang="hr-HR" dirty="0"/>
              <a:t>.</a:t>
            </a:r>
          </a:p>
          <a:p>
            <a:r>
              <a:rPr lang="hr-HR" dirty="0"/>
              <a:t>To je </a:t>
            </a:r>
            <a:r>
              <a:rPr lang="hr-HR" i="1" dirty="0"/>
              <a:t>živi dokaz</a:t>
            </a:r>
            <a:r>
              <a:rPr lang="hr-HR" dirty="0"/>
              <a:t> da </a:t>
            </a:r>
            <a:r>
              <a:rPr lang="hr-HR" b="1" dirty="0"/>
              <a:t>self-supervised contrastive učenje</a:t>
            </a:r>
            <a:r>
              <a:rPr lang="hr-HR" dirty="0"/>
              <a:t> proizvodi korisne reprezentacije koje jako pomažu u </a:t>
            </a:r>
            <a:r>
              <a:rPr lang="hr-HR" b="1" dirty="0"/>
              <a:t>semi-supervised</a:t>
            </a:r>
            <a:r>
              <a:rPr lang="hr-HR" dirty="0"/>
              <a:t> scenariju.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65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SWaV – Najbolji self-supervised model</a:t>
            </a:r>
          </a:p>
          <a:p>
            <a:r>
              <a:rPr lang="hr-HR" dirty="0"/>
              <a:t>Linear eval: </a:t>
            </a:r>
            <a:r>
              <a:rPr lang="hr-HR" b="1" dirty="0"/>
              <a:t>70.5%</a:t>
            </a:r>
            <a:endParaRPr lang="hr-HR" dirty="0"/>
          </a:p>
          <a:p>
            <a:r>
              <a:rPr lang="hr-HR" dirty="0"/>
              <a:t>k-NN eval: </a:t>
            </a:r>
            <a:r>
              <a:rPr lang="hr-HR" b="1" dirty="0"/>
              <a:t>64.6%</a:t>
            </a:r>
            <a:endParaRPr lang="hr-HR" dirty="0"/>
          </a:p>
          <a:p>
            <a:r>
              <a:rPr lang="hr-HR" dirty="0"/>
              <a:t>SWaV koristi </a:t>
            </a:r>
            <a:r>
              <a:rPr lang="hr-HR" b="1" dirty="0"/>
              <a:t>prototipe (klastere)</a:t>
            </a:r>
            <a:r>
              <a:rPr lang="hr-HR" dirty="0"/>
              <a:t> umjesto negativnih parova → stabilan i efikasan.</a:t>
            </a:r>
          </a:p>
          <a:p>
            <a:r>
              <a:rPr lang="hr-HR" dirty="0"/>
              <a:t>Rezultati pokazuju da SWaV nauči vrlo kvalitetne reprezentacije čak </a:t>
            </a:r>
            <a:r>
              <a:rPr lang="hr-HR" b="1" dirty="0"/>
              <a:t>bez ijedne oznake</a:t>
            </a:r>
            <a:r>
              <a:rPr lang="hr-HR" dirty="0"/>
              <a:t>.</a:t>
            </a:r>
          </a:p>
          <a:p>
            <a:r>
              <a:rPr lang="hr-HR" dirty="0"/>
              <a:t>SWaV outperforma Random baseline </a:t>
            </a:r>
            <a:r>
              <a:rPr lang="hr-HR" i="1" dirty="0"/>
              <a:t>drastično</a:t>
            </a:r>
            <a:r>
              <a:rPr lang="hr-HR" dirty="0"/>
              <a:t>, što potvrđuje da model razumije semantičku strukturu STL-10 skupa.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1B8698-626B-44AF-BB71-5C07A3108C83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2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3351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9453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2478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0512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1924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497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9217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070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hr-H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2685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9914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3342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CC931CD-6578-45D9-879F-C3448A14A5EF}" type="datetimeFigureOut">
              <a:rPr lang="hr-HR" smtClean="0"/>
              <a:t>26.11.2025.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FFC7435-753A-403B-8D3A-519D5EC713F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4163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self-supervised-learning/nt-xent-loss-normalized-temperature-scaled-cross-entropy-loss-ea5a1ede7c40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self-supervised-learning/nt-xent-loss-normalized-temperature-scaled-cross-entropy-loss-ea5a1ede7c40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self-supervised-learning/nt-xent-loss-normalized-temperature-scaled-cross-entropy-loss-ea5a1ede7c40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researchgate.net/figure/Examples-of-data-augmentation-operators-used-in-contrastive-learning27_fig1_368988438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aakhanbukkawar/pca-vs-t-sne-vs-umap-visualizing-the-invisible-in-your-data-92cb2baebdb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E335-C5C9-2DA1-58E4-185184EB6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" y="521208"/>
            <a:ext cx="12015216" cy="3703319"/>
          </a:xfrm>
        </p:spPr>
        <p:txBody>
          <a:bodyPr>
            <a:normAutofit fontScale="90000"/>
          </a:bodyPr>
          <a:lstStyle/>
          <a:p>
            <a:r>
              <a:rPr lang="en-US" sz="9600" b="1" dirty="0">
                <a:latin typeface="Baskerville Old Face" panose="02020602080505020303" pitchFamily="18" charset="0"/>
              </a:rPr>
              <a:t>Semi supervised learning, Self supervised, </a:t>
            </a:r>
            <a:r>
              <a:rPr lang="en-US" sz="11500" b="1" dirty="0">
                <a:latin typeface="Baskerville Old Face" panose="02020602080505020303" pitchFamily="18" charset="0"/>
              </a:rPr>
              <a:t>contrastive</a:t>
            </a:r>
            <a:r>
              <a:rPr lang="en-US" sz="9600" b="1" dirty="0">
                <a:latin typeface="Baskerville Old Face" panose="02020602080505020303" pitchFamily="18" charset="0"/>
              </a:rPr>
              <a:t> learning</a:t>
            </a:r>
            <a:endParaRPr lang="hr-HR" sz="9600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B0A53-B239-4D3A-3F8B-723B99556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" y="4663440"/>
            <a:ext cx="11841480" cy="2194560"/>
          </a:xfrm>
        </p:spPr>
        <p:txBody>
          <a:bodyPr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r-HR" sz="5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skerville Old Face" panose="02020602080505020303" pitchFamily="18" charset="0"/>
                <a:ea typeface="+mn-ea"/>
                <a:cs typeface="+mn-cs"/>
              </a:rPr>
              <a:t>Samuel Ad</a:t>
            </a:r>
            <a:r>
              <a:rPr kumimoji="0" lang="hr-HR" sz="5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skerville Old Face" panose="02020602080505020303" pitchFamily="18" charset="0"/>
                <a:ea typeface="+mn-ea"/>
                <a:cs typeface="+mn-cs"/>
              </a:rPr>
              <a:t>ž</a:t>
            </a:r>
            <a:r>
              <a:rPr kumimoji="0" lang="hr-HR" sz="5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skerville Old Face" panose="02020602080505020303" pitchFamily="18" charset="0"/>
                <a:ea typeface="+mn-ea"/>
                <a:cs typeface="+mn-cs"/>
              </a:rPr>
              <a:t>i</a:t>
            </a:r>
            <a:r>
              <a:rPr kumimoji="0" lang="hr-HR" sz="5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skerville Old Face" panose="02020602080505020303" pitchFamily="18" charset="0"/>
                <a:ea typeface="+mn-ea"/>
                <a:cs typeface="+mn-cs"/>
              </a:rPr>
              <a:t>ć</a:t>
            </a:r>
          </a:p>
          <a:p>
            <a:pPr>
              <a:lnSpc>
                <a:spcPct val="150000"/>
              </a:lnSpc>
            </a:pPr>
            <a:r>
              <a:rPr lang="hr-HR" sz="3100" dirty="0">
                <a:latin typeface="Baskerville Old Face" panose="02020602080505020303" pitchFamily="18" charset="0"/>
              </a:rPr>
              <a:t>Kolegij: Duboko u</a:t>
            </a:r>
            <a:r>
              <a:rPr lang="hr-HR" sz="2600" dirty="0">
                <a:latin typeface="Baskerville Old Face" panose="02020602080505020303" pitchFamily="18" charset="0"/>
              </a:rPr>
              <a:t>č</a:t>
            </a:r>
            <a:r>
              <a:rPr lang="hr-HR" sz="3100" dirty="0">
                <a:latin typeface="Baskerville Old Face" panose="02020602080505020303" pitchFamily="18" charset="0"/>
              </a:rPr>
              <a:t>enje</a:t>
            </a:r>
          </a:p>
          <a:p>
            <a:pPr>
              <a:lnSpc>
                <a:spcPct val="150000"/>
              </a:lnSpc>
            </a:pPr>
            <a:r>
              <a:rPr lang="hr-HR" sz="3600" dirty="0">
                <a:latin typeface="Baskerville Old Face" panose="02020602080505020303" pitchFamily="18" charset="0"/>
              </a:rPr>
              <a:t>Osijek, 2025</a:t>
            </a:r>
          </a:p>
        </p:txBody>
      </p:sp>
      <p:pic>
        <p:nvPicPr>
          <p:cNvPr id="1026" name="Picture 2" descr="Smart sticker">
            <a:extLst>
              <a:ext uri="{FF2B5EF4-FFF2-40B4-BE49-F238E27FC236}">
                <a16:creationId xmlns:a16="http://schemas.microsoft.com/office/drawing/2014/main" id="{14F684C8-AE37-5FB1-8335-D7F7A405A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05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niOkvir 2">
            <a:extLst>
              <a:ext uri="{FF2B5EF4-FFF2-40B4-BE49-F238E27FC236}">
                <a16:creationId xmlns:a16="http://schemas.microsoft.com/office/drawing/2014/main" id="{A199B903-4A2B-44B0-AADA-2C4B017394BC}"/>
              </a:ext>
            </a:extLst>
          </p:cNvPr>
          <p:cNvSpPr txBox="1"/>
          <p:nvPr/>
        </p:nvSpPr>
        <p:spPr>
          <a:xfrm>
            <a:off x="481263" y="320842"/>
            <a:ext cx="11710737" cy="467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Cilj</a:t>
            </a: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 predavanja</a:t>
            </a:r>
          </a:p>
          <a:p>
            <a:pPr>
              <a:buNone/>
            </a:pPr>
            <a:endParaRPr lang="hr-HR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Kako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ove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rade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Zašto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toliko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važne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Kako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napravljeni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moco</a:t>
            </a:r>
            <a:r>
              <a:rPr lang="hr-HR" sz="3200" dirty="0">
                <a:latin typeface="Segoe UI" panose="020B0502040204020203" pitchFamily="34" charset="0"/>
                <a:cs typeface="Segoe UI" panose="020B0502040204020203" pitchFamily="34" charset="0"/>
              </a:rPr>
              <a:t>,swaw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BYOL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Kako se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evaluiraju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Kako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koristiti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praksi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530C7545-4458-C9E9-B5A3-9215210ED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78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A84B0C-5EB7-EF38-AB51-009D2A520F64}"/>
              </a:ext>
            </a:extLst>
          </p:cNvPr>
          <p:cNvSpPr txBox="1"/>
          <p:nvPr/>
        </p:nvSpPr>
        <p:spPr>
          <a:xfrm>
            <a:off x="452487" y="301657"/>
            <a:ext cx="9916998" cy="373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CNN: početak moderne ere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AlexNet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 (2012.) → prekretnica u računalnom vidu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CNN uči značajke automatski, bez ručnih feature-a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Potreban ogroman broj označenih primjera (ImageNet)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Problem: ovisnost o etiketama → skupo i nepraktično</a:t>
            </a:r>
          </a:p>
        </p:txBody>
      </p:sp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B6CFA54C-69E2-0F9E-402F-A49CB1C2A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5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28D0A5-56F2-B926-DC2E-A78D1460F83E}"/>
              </a:ext>
            </a:extLst>
          </p:cNvPr>
          <p:cNvSpPr txBox="1"/>
          <p:nvPr/>
        </p:nvSpPr>
        <p:spPr>
          <a:xfrm>
            <a:off x="428577" y="605287"/>
            <a:ext cx="11185245" cy="352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Autoenkoderi, VAE i GAN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Autoenkoderi: rekonstrukcija ulaza, učenje latentnog prostora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VAE: probabilistička verzija AE-a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GAN: model koji generira realistične podatke bez oznaka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Zaključak: mogu li mreže učiti strukturu svijeta bez labela?</a:t>
            </a:r>
          </a:p>
        </p:txBody>
      </p:sp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23A6B1F1-6CA3-7D87-363C-276462A53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163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BEBC3B-6E06-F3E4-817A-88CF8707461B}"/>
              </a:ext>
            </a:extLst>
          </p:cNvPr>
          <p:cNvSpPr txBox="1"/>
          <p:nvPr/>
        </p:nvSpPr>
        <p:spPr>
          <a:xfrm>
            <a:off x="701954" y="468514"/>
            <a:ext cx="11581171" cy="4167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RNN, LSTM, GRU, </a:t>
            </a:r>
            <a:r>
              <a:rPr lang="hr-HR" sz="3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Transformeri</a:t>
            </a:r>
            <a:endParaRPr lang="hr-HR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Sekvencijski modeli za tekst, govor, vremenske nizove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LSTM/GRU rješavaju problem dugoročnih ovisnosti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Attention → Transformeri (2017.) → paralelizacija i kontekst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Vision Transformer (ViT): attention u računalnom vidu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I dalje: zahtijevaju masivne skupove s oznakama</a:t>
            </a:r>
          </a:p>
        </p:txBody>
      </p:sp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0DF8F607-D654-99AB-672A-E965C5030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82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6F4E21D-4758-E355-A10E-87973A0A6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8CC84-C39C-DEBD-989C-6692A03D3FE0}"/>
              </a:ext>
            </a:extLst>
          </p:cNvPr>
          <p:cNvSpPr txBox="1"/>
          <p:nvPr/>
        </p:nvSpPr>
        <p:spPr>
          <a:xfrm>
            <a:off x="609816" y="419942"/>
            <a:ext cx="10806044" cy="373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Motivacija: manjak oznaka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U stvarnom svijetu oznake su rijetke (medicina, sateliti, industrija)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Neoznačeni podaci su jeftini i dostupni u ogromnim količinama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Potreba za metodama koje iskorištavaju neoznačene podatke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Rješenje: Semi-supervised i Self-supervised pristupi</a:t>
            </a:r>
          </a:p>
        </p:txBody>
      </p:sp>
    </p:spTree>
    <p:extLst>
      <p:ext uri="{BB962C8B-B14F-4D97-AF65-F5344CB8AC3E}">
        <p14:creationId xmlns:p14="http://schemas.microsoft.com/office/powerpoint/2010/main" val="300297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BA7B5121-1523-45E1-B778-9980FCAFB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6F1D1A-E14C-9652-AB39-62FB6E781E07}"/>
              </a:ext>
            </a:extLst>
          </p:cNvPr>
          <p:cNvSpPr txBox="1"/>
          <p:nvPr/>
        </p:nvSpPr>
        <p:spPr>
          <a:xfrm>
            <a:off x="578948" y="754787"/>
            <a:ext cx="11779591" cy="4813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Od nadziranog do samo-nadziranog učenja</a:t>
            </a:r>
          </a:p>
          <a:p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Supervised: CNN, ViT – uče iz označenih podataka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Unsupervised: AE, VAE, GAN – uče bez oznaka, ali bez cilja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Semi-supervised: malo labela + puno neoznačenih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Self-supervised: sam generira pseudo-zadatke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Contrastive: uči kroz sličnosti/razlike uzoraka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Cilj: model sam otkriva strukturu podataka</a:t>
            </a:r>
          </a:p>
        </p:txBody>
      </p:sp>
    </p:spTree>
    <p:extLst>
      <p:ext uri="{BB962C8B-B14F-4D97-AF65-F5344CB8AC3E}">
        <p14:creationId xmlns:p14="http://schemas.microsoft.com/office/powerpoint/2010/main" val="44124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1DBE5F7-6070-7D2B-B495-3EC5787FF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7DFCAE-3B01-32C9-F83C-C3BA8EF8D50E}"/>
              </a:ext>
            </a:extLst>
          </p:cNvPr>
          <p:cNvSpPr txBox="1"/>
          <p:nvPr/>
        </p:nvSpPr>
        <p:spPr>
          <a:xfrm>
            <a:off x="448660" y="1022315"/>
            <a:ext cx="11444330" cy="4813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Semi-supervised learning: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koristi malo označenih + puno neoznačenih podataka</a:t>
            </a:r>
          </a:p>
          <a:p>
            <a:pPr>
              <a:lnSpc>
                <a:spcPct val="150000"/>
              </a:lnSpc>
            </a:pPr>
            <a:r>
              <a:rPr lang="hr-HR" sz="3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Self-supervised</a:t>
            </a: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 learning: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stvara pseudo-zadatke iz samih podataka</a:t>
            </a:r>
          </a:p>
          <a:p>
            <a:pPr>
              <a:lnSpc>
                <a:spcPct val="150000"/>
              </a:lnSpc>
            </a:pPr>
            <a:r>
              <a:rPr lang="hr-HR" sz="3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Contrastive</a:t>
            </a:r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 learning: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približava slične, udaljava različite uzorke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detaljan pregled metoda → SimCLR, MoCo, SwAV, BYOL</a:t>
            </a:r>
          </a:p>
        </p:txBody>
      </p:sp>
    </p:spTree>
    <p:extLst>
      <p:ext uri="{BB962C8B-B14F-4D97-AF65-F5344CB8AC3E}">
        <p14:creationId xmlns:p14="http://schemas.microsoft.com/office/powerpoint/2010/main" val="79203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28F2EF-5235-D934-AD59-5DDDF3E88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248" y="1752600"/>
            <a:ext cx="10782300" cy="3352800"/>
          </a:xfrm>
        </p:spPr>
        <p:txBody>
          <a:bodyPr/>
          <a:lstStyle/>
          <a:p>
            <a:r>
              <a:rPr lang="en-US" sz="9600" b="1" dirty="0">
                <a:latin typeface="Segoe UI" panose="020B0502040204020203" pitchFamily="34" charset="0"/>
                <a:cs typeface="Segoe UI" panose="020B0502040204020203" pitchFamily="34" charset="0"/>
              </a:rPr>
              <a:t>Semi-Supervised Learning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611C7612-0E7D-7454-A86F-351C25EC5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97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E0E960BA-9945-2E09-BBA5-15B6717BF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E1397E3A-D858-9105-A6E4-FE68761CFA52}"/>
              </a:ext>
            </a:extLst>
          </p:cNvPr>
          <p:cNvSpPr txBox="1"/>
          <p:nvPr/>
        </p:nvSpPr>
        <p:spPr>
          <a:xfrm>
            <a:off x="179768" y="294052"/>
            <a:ext cx="11264867" cy="7820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r-HR" sz="2800" b="1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Semi-supervised</a:t>
            </a:r>
            <a:r>
              <a:rPr lang="hr-HR" sz="2800" b="1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hr-HR" sz="2800" b="1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learning</a:t>
            </a:r>
            <a:r>
              <a:rPr lang="hr-HR" sz="2800" b="1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ili </a:t>
            </a:r>
            <a:r>
              <a:rPr lang="hr-HR" sz="2800" b="1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polu-</a:t>
            </a:r>
            <a:r>
              <a:rPr lang="hr-HR" sz="2800" b="1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nadzoreno</a:t>
            </a:r>
            <a:r>
              <a:rPr lang="hr-HR" sz="2800" b="1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učenje</a:t>
            </a: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je paradigma između nadziranog i nenadziranog učenja.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Veliki </a:t>
            </a:r>
            <a:r>
              <a:rPr lang="hr-HR" sz="4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</a:t>
            </a: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(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unlabeled</a:t>
            </a: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 i mali </a:t>
            </a:r>
            <a:r>
              <a:rPr lang="hr-HR" sz="16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</a:t>
            </a: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(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labeled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r-HR" sz="28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Kombinacija učitelja i istraživača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r-HR" sz="28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Primjerice</a:t>
            </a:r>
            <a:r>
              <a:rPr lang="hr-HR" sz="28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: </a:t>
            </a:r>
          </a:p>
          <a:p>
            <a:pPr marL="1200150" lvl="2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r-HR" sz="28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10 ručno označenih slika mačaka i pasa, a 10000 bez oznaka</a:t>
            </a:r>
          </a:p>
          <a:p>
            <a:pPr marL="1200150" lvl="2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r-HR" sz="28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Ako model nauči razliku u tih 10, može „pogoditi” i ostalih 10000</a:t>
            </a:r>
          </a:p>
          <a:p>
            <a:pPr marL="1200150" lvl="2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hr-HR" sz="2400" kern="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8">
              <a:lnSpc>
                <a:spcPct val="115000"/>
              </a:lnSpc>
              <a:spcAft>
                <a:spcPts val="800"/>
              </a:spcAft>
            </a:pPr>
            <a:endParaRPr lang="hr-HR" sz="2400" kern="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1657350" lvl="3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hr-HR" sz="2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E9648B3C-EA68-0C62-1AAB-5BAA78431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2884E7EA-6911-D038-AD70-0E7FC6B14F9C}"/>
              </a:ext>
            </a:extLst>
          </p:cNvPr>
          <p:cNvSpPr txBox="1"/>
          <p:nvPr/>
        </p:nvSpPr>
        <p:spPr>
          <a:xfrm>
            <a:off x="224589" y="577516"/>
            <a:ext cx="11004885" cy="5829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Pseudo-</a:t>
            </a:r>
            <a:r>
              <a:rPr lang="hr-HR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labeling</a:t>
            </a: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hr-HR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Self</a:t>
            </a: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Training</a:t>
            </a: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Ideja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Naučimo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model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označenim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podacima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Pustimo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ga da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predvđa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neoznačenima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Ako je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dovoljno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siguran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predikciju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tretiramo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Dodamo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je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natrag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trening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Ponovimo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proces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814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05160A2-1DD7-2013-ECD6-C3403982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1E8FA623-B4E9-1EBE-6934-941FB063BD2F}"/>
              </a:ext>
            </a:extLst>
          </p:cNvPr>
          <p:cNvSpPr txBox="1"/>
          <p:nvPr/>
        </p:nvSpPr>
        <p:spPr>
          <a:xfrm>
            <a:off x="417094" y="540001"/>
            <a:ext cx="9151112" cy="647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Prednosti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Jednostavan i intuitivan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Lako implementirati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Učinkovit u praksi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izici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Ako je model u početku loš-širi svoje greške(</a:t>
            </a:r>
            <a:r>
              <a:rPr lang="hr-H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error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propagation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457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AB9BE5C-0D0B-6799-BE4E-2A8CA61A9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4C0687EC-77CF-19A7-AEBA-6D187E9A6B19}"/>
              </a:ext>
            </a:extLst>
          </p:cNvPr>
          <p:cNvSpPr txBox="1"/>
          <p:nvPr/>
        </p:nvSpPr>
        <p:spPr>
          <a:xfrm>
            <a:off x="829559" y="606788"/>
            <a:ext cx="8229600" cy="295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hr-HR" sz="3200" dirty="0">
                <a:latin typeface="Segoe UI" panose="020B0502040204020203" pitchFamily="34" charset="0"/>
                <a:cs typeface="Segoe UI" panose="020B0502040204020203" pitchFamily="34" charset="0"/>
              </a:rPr>
              <a:t>RJEŠENJE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confidence threshold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npr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. p ≥ 0.95)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temperature scaling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balansiranje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pseudo-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393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C1089360-D92E-069D-8C3F-47BC9A30E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8810BC48-0FA2-A0E1-1D67-8F74C31105B2}"/>
              </a:ext>
            </a:extLst>
          </p:cNvPr>
          <p:cNvSpPr txBox="1"/>
          <p:nvPr/>
        </p:nvSpPr>
        <p:spPr>
          <a:xfrm>
            <a:off x="625642" y="540000"/>
            <a:ext cx="100455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Co-Training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Tri-Training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Zašto koristiti jedan model, kad možemo dva ili tri?</a:t>
            </a: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125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34EBC34C-6BB5-64DF-34AD-05B7C3761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AE90DA68-84FD-F081-CB70-EE9F8CD62B55}"/>
              </a:ext>
            </a:extLst>
          </p:cNvPr>
          <p:cNvSpPr txBox="1"/>
          <p:nvPr/>
        </p:nvSpPr>
        <p:spPr>
          <a:xfrm>
            <a:off x="785070" y="774496"/>
            <a:ext cx="9509000" cy="281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Co-Training: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modela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svaki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drugi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pogled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/feature space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svaki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pseudo-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drugi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model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459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9008AAE-CEBF-486C-B825-8D2A66BD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B843F6B9-41DD-DBBA-2DD3-AD35BE10BBB9}"/>
              </a:ext>
            </a:extLst>
          </p:cNvPr>
          <p:cNvSpPr txBox="1"/>
          <p:nvPr/>
        </p:nvSpPr>
        <p:spPr>
          <a:xfrm>
            <a:off x="841796" y="1310076"/>
            <a:ext cx="10006305" cy="2166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ri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-Training: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tri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modela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pseudo-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prihvaća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dva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od tri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slože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630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9ED357F1-1152-C66B-FBC2-2544D5D5E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9CA1EC13-568E-34F0-2F72-1E10ED09F8F3}"/>
              </a:ext>
            </a:extLst>
          </p:cNvPr>
          <p:cNvSpPr txBox="1"/>
          <p:nvPr/>
        </p:nvSpPr>
        <p:spPr>
          <a:xfrm>
            <a:off x="585288" y="540000"/>
            <a:ext cx="1146216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Consistency Regularization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treba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isti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izlaz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različite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verzije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istog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ulaza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dirty="0">
                <a:latin typeface="Segoe UI" panose="020B0502040204020203" pitchFamily="34" charset="0"/>
                <a:cs typeface="Segoe UI" panose="020B0502040204020203" pitchFamily="34" charset="0"/>
              </a:rPr>
              <a:t>Ako je pas bigl malo zarotiran, potamnjen, izrezan ili zamagljen — to je i dalje bigl.</a:t>
            </a:r>
          </a:p>
          <a:p>
            <a:endParaRPr lang="pl-PL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To se ostvaruje dodatnim gubitkom koji penalizira razliku između predikcija.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941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A28CF02-9921-0E44-2733-76DE80DEB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405C6204-D3CC-1B9E-DB14-90755DF46CE4}"/>
              </a:ext>
            </a:extLst>
          </p:cNvPr>
          <p:cNvSpPr txBox="1"/>
          <p:nvPr/>
        </p:nvSpPr>
        <p:spPr>
          <a:xfrm>
            <a:off x="365330" y="158933"/>
            <a:ext cx="10603832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Najpoznatije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Π-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penalizira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razliku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dviju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predikcija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Temporal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Ensembling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spaja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predikcije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kroz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epohe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Mean Teacher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student vs teacher (teacher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EMA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težine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VAT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nalazi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najgoru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malu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perturbaciju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MixMatch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RemixMatch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FixMatch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/ UDA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r-HR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Next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 gen metode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kombinacije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pseudo-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labelinga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dosljednosti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147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2187B1B-619D-71DC-C51F-4E929FCF5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ica 4">
            <a:extLst>
              <a:ext uri="{FF2B5EF4-FFF2-40B4-BE49-F238E27FC236}">
                <a16:creationId xmlns:a16="http://schemas.microsoft.com/office/drawing/2014/main" id="{178B775D-791D-CF98-97EB-24C6BBF1C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044360"/>
              </p:ext>
            </p:extLst>
          </p:nvPr>
        </p:nvGraphicFramePr>
        <p:xfrm>
          <a:off x="96252" y="148389"/>
          <a:ext cx="11999496" cy="6561222"/>
        </p:xfrm>
        <a:graphic>
          <a:graphicData uri="http://schemas.openxmlformats.org/drawingml/2006/table">
            <a:tbl>
              <a:tblPr/>
              <a:tblGrid>
                <a:gridCol w="1999916">
                  <a:extLst>
                    <a:ext uri="{9D8B030D-6E8A-4147-A177-3AD203B41FA5}">
                      <a16:colId xmlns:a16="http://schemas.microsoft.com/office/drawing/2014/main" val="2599320333"/>
                    </a:ext>
                  </a:extLst>
                </a:gridCol>
                <a:gridCol w="1999916">
                  <a:extLst>
                    <a:ext uri="{9D8B030D-6E8A-4147-A177-3AD203B41FA5}">
                      <a16:colId xmlns:a16="http://schemas.microsoft.com/office/drawing/2014/main" val="740040424"/>
                    </a:ext>
                  </a:extLst>
                </a:gridCol>
                <a:gridCol w="1999916">
                  <a:extLst>
                    <a:ext uri="{9D8B030D-6E8A-4147-A177-3AD203B41FA5}">
                      <a16:colId xmlns:a16="http://schemas.microsoft.com/office/drawing/2014/main" val="4025958361"/>
                    </a:ext>
                  </a:extLst>
                </a:gridCol>
                <a:gridCol w="1999916">
                  <a:extLst>
                    <a:ext uri="{9D8B030D-6E8A-4147-A177-3AD203B41FA5}">
                      <a16:colId xmlns:a16="http://schemas.microsoft.com/office/drawing/2014/main" val="3663362717"/>
                    </a:ext>
                  </a:extLst>
                </a:gridCol>
                <a:gridCol w="1999916">
                  <a:extLst>
                    <a:ext uri="{9D8B030D-6E8A-4147-A177-3AD203B41FA5}">
                      <a16:colId xmlns:a16="http://schemas.microsoft.com/office/drawing/2014/main" val="1968730422"/>
                    </a:ext>
                  </a:extLst>
                </a:gridCol>
                <a:gridCol w="1999916">
                  <a:extLst>
                    <a:ext uri="{9D8B030D-6E8A-4147-A177-3AD203B41FA5}">
                      <a16:colId xmlns:a16="http://schemas.microsoft.com/office/drawing/2014/main" val="1131475640"/>
                    </a:ext>
                  </a:extLst>
                </a:gridCol>
              </a:tblGrid>
              <a:tr h="4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Metoda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Pseudo-oznake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Teacher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EMA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Adversarial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Jakosti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877101"/>
                  </a:ext>
                </a:extLst>
              </a:tr>
              <a:tr h="4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 b="1"/>
                        <a:t>Π-</a:t>
                      </a:r>
                      <a:r>
                        <a:rPr lang="en-US" sz="1400" b="1"/>
                        <a:t>model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najjednostavnija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06649"/>
                  </a:ext>
                </a:extLst>
              </a:tr>
              <a:tr h="8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Temporal Ensembling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implicitni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stabilniji targeti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765137"/>
                  </a:ext>
                </a:extLst>
              </a:tr>
              <a:tr h="4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Mean Teacher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vrlo stabilan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21950"/>
                  </a:ext>
                </a:extLst>
              </a:tr>
              <a:tr h="1216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VAT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✔️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najsnažniji consistency signal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171570"/>
                  </a:ext>
                </a:extLst>
              </a:tr>
              <a:tr h="485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MixMatch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 (meke)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sve u jednom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949226"/>
                  </a:ext>
                </a:extLst>
              </a:tr>
              <a:tr h="8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ReMixMatch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poboljšani MixMatch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268333"/>
                  </a:ext>
                </a:extLst>
              </a:tr>
              <a:tr h="8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FixMatch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 (tvrde, p≥</a:t>
                      </a:r>
                      <a:r>
                        <a:rPr lang="el-GR" sz="1400"/>
                        <a:t>τ)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najjednostavniji, najbolji u praksi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908093"/>
                  </a:ext>
                </a:extLst>
              </a:tr>
              <a:tr h="8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UDA</a:t>
                      </a:r>
                      <a:endParaRPr lang="en-US" sz="140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✔️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❌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moćne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augmentacije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213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564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0A95506A-BAB8-0FA0-B403-F0EF74A3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96B7B830-6117-B684-478D-CABA8A761469}"/>
              </a:ext>
            </a:extLst>
          </p:cNvPr>
          <p:cNvSpPr txBox="1"/>
          <p:nvPr/>
        </p:nvSpPr>
        <p:spPr>
          <a:xfrm>
            <a:off x="705853" y="646136"/>
            <a:ext cx="8887326" cy="324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Semi-supervised learning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spaja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puno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neoznačenih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podataka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pseudo-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dosljednost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pod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augmentacijama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354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8C0FA44D-7D3C-27E1-7E74-995E23D04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B47F96-CF6D-3C2B-00FA-F351377ED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211" y="64008"/>
            <a:ext cx="7529577" cy="36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1A15A4-8A68-0B0E-04D3-963039190924}"/>
              </a:ext>
            </a:extLst>
          </p:cNvPr>
          <p:cNvSpPr txBox="1"/>
          <p:nvPr/>
        </p:nvSpPr>
        <p:spPr>
          <a:xfrm>
            <a:off x="156344" y="3591337"/>
            <a:ext cx="12818992" cy="326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Pi-Model (≈68%) – najbolja semi-supervised metoda u ovom eksperimentu. Konzistentnost predikcija na augmentacijama daje stabilan i jasan dobitak u odnosu na supervised.</a:t>
            </a:r>
          </a:p>
          <a:p>
            <a:pPr>
              <a:lnSpc>
                <a:spcPct val="150000"/>
              </a:lnSpc>
            </a:pP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Supervised (~66%) – osnovni benchmark bez korištenja unlabeled podataka. 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Pseudo-Label (~66%) – gotovo isto kao supervised; koristi samo najpouzdanije pseudo-labele.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Co-Training (~48%) – loš rezultat; modeli si prenose pogrešne pseudo-labele.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MixMatch (~10%) – nije proradio u ovoj konfiguraciji; zahtijeva osjetljivo podešavanje hiperparametara.</a:t>
            </a:r>
          </a:p>
        </p:txBody>
      </p:sp>
    </p:spTree>
    <p:extLst>
      <p:ext uri="{BB962C8B-B14F-4D97-AF65-F5344CB8AC3E}">
        <p14:creationId xmlns:p14="http://schemas.microsoft.com/office/powerpoint/2010/main" val="1608518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BA628CE-BF24-6C7D-D573-A8BB00C24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19693E-20B1-EB41-AC97-47671F3C2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8846"/>
            <a:ext cx="12192000" cy="601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73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2F716478-5118-E244-6532-40CDE8D7B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FA0EAA-BAD7-8EB4-7D6B-EAAA7566F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0000"/>
            <a:ext cx="12192000" cy="626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07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9D0F6C34-CE78-8232-E9B6-939C976E2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F369D2-D89B-4CAB-1FCA-BFE264A25E1E}"/>
              </a:ext>
            </a:extLst>
          </p:cNvPr>
          <p:cNvSpPr txBox="1"/>
          <p:nvPr/>
        </p:nvSpPr>
        <p:spPr>
          <a:xfrm>
            <a:off x="0" y="549648"/>
            <a:ext cx="12304507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hr-H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Mogućnosti poboljšanja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Bolja augmentacija (RandAugment, Cutout, više view-ova).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Warm-up faze – prvo trenirati supervised, zatim postupno uključivati 	unsupervised loss.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Manji learning rate ili finiji LR schedule (cosine decay, warm restarts).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Postupno povećanje </a:t>
            </a:r>
            <a:r>
              <a:rPr lang="el-GR" sz="2400" dirty="0">
                <a:latin typeface="Segoe UI" panose="020B0502040204020203" pitchFamily="34" charset="0"/>
                <a:cs typeface="Segoe UI" panose="020B0502040204020203" pitchFamily="34" charset="0"/>
              </a:rPr>
              <a:t>λ 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za unsupervised dio (kao u originalnom MixMatch/FixMatch).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Balansiranje težina pseudo-labela prema pouzdanosti modela.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Korištenje EMA (teacher model(Mean Teacher ili FixMatch)) za stabilnije pseudo-labele.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 Više epoha i/ili manji labeled subset za realniju SSL evaluaciju.</a:t>
            </a:r>
          </a:p>
        </p:txBody>
      </p:sp>
    </p:spTree>
    <p:extLst>
      <p:ext uri="{BB962C8B-B14F-4D97-AF65-F5344CB8AC3E}">
        <p14:creationId xmlns:p14="http://schemas.microsoft.com/office/powerpoint/2010/main" val="3121595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3DE48D-05DE-460A-B2CD-82D106B07C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b="1" dirty="0">
                <a:latin typeface="Segoe UI" panose="020B0502040204020203" pitchFamily="34" charset="0"/>
                <a:cs typeface="Segoe UI" panose="020B0502040204020203" pitchFamily="34" charset="0"/>
              </a:rPr>
              <a:t>Self-Supervised Learning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87B3A1F-9358-DB44-85B5-03866A9C0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25AEEE75-D096-6BBA-3973-B14E1CD31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335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D270E82-4737-DC68-CC62-A4E996EA9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F6357F61-13B8-4BC8-A096-8719A1BAC900}"/>
              </a:ext>
            </a:extLst>
          </p:cNvPr>
          <p:cNvSpPr txBox="1"/>
          <p:nvPr/>
        </p:nvSpPr>
        <p:spPr>
          <a:xfrm>
            <a:off x="393279" y="748375"/>
            <a:ext cx="1038155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buNone/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potpunosti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izbacuje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oznake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pristup koji koristi same podatke da generira </a:t>
            </a: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pseudo-zadatke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hr-HR" sz="28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pretext</a:t>
            </a:r>
            <a:r>
              <a:rPr lang="hr-HR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8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tasks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) i tako uči reprezentacije</a:t>
            </a: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učiti iz same strukture podataka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, bez ljudskog nadzora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09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6E9EBDC-03E8-48CF-BC5B-481F36C40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66ACCA9D-55C4-133B-4BC1-308D264522F9}"/>
              </a:ext>
            </a:extLst>
          </p:cNvPr>
          <p:cNvSpPr txBox="1"/>
          <p:nvPr/>
        </p:nvSpPr>
        <p:spPr>
          <a:xfrm>
            <a:off x="556181" y="697584"/>
            <a:ext cx="10291920" cy="5182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•	YouTube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milijarde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sati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videa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•	Internet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trilijune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rečenica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anotacija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•	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Svijet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je pun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neoznačenih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zvuka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senzorskih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podataka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SKUP ZA TRENING?</a:t>
            </a: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Jednom istrenirane SSL reprezentacije mogu se prenositi na različite zadatke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09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D391F1B-E7CF-86C8-0533-20D40F1BD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3EC61D84-0360-AA19-AF24-F701E53E4990}"/>
              </a:ext>
            </a:extLst>
          </p:cNvPr>
          <p:cNvSpPr txBox="1"/>
          <p:nvPr/>
        </p:nvSpPr>
        <p:spPr>
          <a:xfrm>
            <a:off x="1106905" y="710668"/>
            <a:ext cx="10506918" cy="4536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Pretext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zadaci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Rotation prediction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nasumično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zarotira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za {0°, 90°, 180°, 270°}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mora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pogoditi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rotacije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Time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prepoznati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oblike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orijentaciju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kontekst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954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C01374EA-97C8-6473-949A-F46DC1E5B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0C33708D-27B2-9166-459F-DA238A4C7CFC}"/>
              </a:ext>
            </a:extLst>
          </p:cNvPr>
          <p:cNvSpPr txBox="1"/>
          <p:nvPr/>
        </p:nvSpPr>
        <p:spPr>
          <a:xfrm>
            <a:off x="830054" y="703177"/>
            <a:ext cx="10689996" cy="259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Jigsaw puzzle (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slagalica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podijeli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dijelova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koji se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permutiraju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mora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pogoditi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ispravan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raspored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Time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razumjeti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prostorni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raspored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objekata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0827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212B3DF3-3C1A-D05B-E2C0-A6ABEBDE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F9527518-4EF4-CAA9-22F5-9968627F365D}"/>
              </a:ext>
            </a:extLst>
          </p:cNvPr>
          <p:cNvSpPr txBox="1"/>
          <p:nvPr/>
        </p:nvSpPr>
        <p:spPr>
          <a:xfrm>
            <a:off x="850232" y="288759"/>
            <a:ext cx="8293768" cy="259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Colorization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Ulaz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grayscale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ilj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predvidjeti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boju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svakog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piksela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teksture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materijale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svjetlost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607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3618619F-17BC-6744-7F13-DDBD88C22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7E7BA63B-EE54-5D83-2B70-F894ACA54F28}"/>
              </a:ext>
            </a:extLst>
          </p:cNvPr>
          <p:cNvSpPr txBox="1"/>
          <p:nvPr/>
        </p:nvSpPr>
        <p:spPr>
          <a:xfrm>
            <a:off x="813847" y="540000"/>
            <a:ext cx="9932709" cy="259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npainting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dovršavanje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dijela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Dio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izbriše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mora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popuniti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rupu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”.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globalnu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strukturu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kontekst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677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29F62992-C75E-DF22-F5DF-E4055551B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74388" cy="110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7CB54848-D6D8-F112-FA49-A128975F6A7A}"/>
              </a:ext>
            </a:extLst>
          </p:cNvPr>
          <p:cNvSpPr txBox="1"/>
          <p:nvPr/>
        </p:nvSpPr>
        <p:spPr>
          <a:xfrm>
            <a:off x="904973" y="622169"/>
            <a:ext cx="7550870" cy="259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Super-resolution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Ulaz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niske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rezolucije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Cilj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rekonstrukcija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visoke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rezolucije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detalje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lokalne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obrasce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teksture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567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3A221AC-B521-B889-F093-0FAF31FBF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3D44E462-CFC6-D5DB-3C39-0F9CC7C3C704}"/>
              </a:ext>
            </a:extLst>
          </p:cNvPr>
          <p:cNvSpPr txBox="1"/>
          <p:nvPr/>
        </p:nvSpPr>
        <p:spPr>
          <a:xfrm>
            <a:off x="999241" y="650450"/>
            <a:ext cx="786195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U </a:t>
            </a:r>
            <a:r>
              <a:rPr lang="en-US" sz="2800" b="1" dirty="0" err="1"/>
              <a:t>jeziku</a:t>
            </a:r>
            <a:r>
              <a:rPr lang="en-US" sz="2800" b="1" dirty="0"/>
              <a:t> (NLP)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 BERT – Masked Language Modeling (MLM)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15% </a:t>
            </a:r>
            <a:r>
              <a:rPr lang="en-US" sz="2800" dirty="0" err="1"/>
              <a:t>tokena</a:t>
            </a:r>
            <a:r>
              <a:rPr lang="en-US" sz="2800" dirty="0"/>
              <a:t> se </a:t>
            </a:r>
            <a:r>
              <a:rPr lang="en-US" sz="2800" dirty="0" err="1"/>
              <a:t>zamaskira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Model </a:t>
            </a:r>
            <a:r>
              <a:rPr lang="en-US" sz="2800" dirty="0" err="1"/>
              <a:t>predviđa</a:t>
            </a:r>
            <a:r>
              <a:rPr lang="en-US" sz="2800" dirty="0"/>
              <a:t> </a:t>
            </a:r>
            <a:r>
              <a:rPr lang="en-US" sz="2800" dirty="0" err="1"/>
              <a:t>nedostajuće</a:t>
            </a:r>
            <a:r>
              <a:rPr lang="en-US" sz="2800" dirty="0"/>
              <a:t> </a:t>
            </a:r>
            <a:r>
              <a:rPr lang="en-US" sz="2800" dirty="0" err="1"/>
              <a:t>riječi</a:t>
            </a:r>
            <a:r>
              <a:rPr lang="en-US" sz="28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Uči</a:t>
            </a:r>
            <a:r>
              <a:rPr lang="en-US" sz="2800" dirty="0"/>
              <a:t> </a:t>
            </a:r>
            <a:r>
              <a:rPr lang="en-US" sz="2800" dirty="0" err="1"/>
              <a:t>kontekst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značenje</a:t>
            </a:r>
            <a:r>
              <a:rPr lang="en-US" sz="2800" dirty="0"/>
              <a:t> </a:t>
            </a:r>
            <a:r>
              <a:rPr lang="en-US" sz="2800" dirty="0" err="1"/>
              <a:t>riječi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4064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903FC89-400B-51C5-3458-10349A8A6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BC4E09D0-3A70-BD01-264E-971EE5740994}"/>
              </a:ext>
            </a:extLst>
          </p:cNvPr>
          <p:cNvSpPr txBox="1"/>
          <p:nvPr/>
        </p:nvSpPr>
        <p:spPr>
          <a:xfrm>
            <a:off x="587603" y="1199267"/>
            <a:ext cx="9951564" cy="1951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GPT –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Autoregresija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token1, token2, ..., token(n-1)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predviđa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token 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tok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rečenice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logiku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582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5C473D8-984D-A83B-7A5F-5286105DC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3B04A495-CF0A-F6F0-BD4C-5F6BB1A386A5}"/>
              </a:ext>
            </a:extLst>
          </p:cNvPr>
          <p:cNvSpPr txBox="1"/>
          <p:nvPr/>
        </p:nvSpPr>
        <p:spPr>
          <a:xfrm>
            <a:off x="638706" y="1186628"/>
            <a:ext cx="10635751" cy="259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 audio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domeni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CPC (Contrastive Predictive Coding)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predviđa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buduće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audio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(Prvi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korak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kontrastivnom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385315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rvey on Self-Supervised Learning: Auxiliary Pretext Tasks and Contrastive  Learning Methods in Imaging">
            <a:extLst>
              <a:ext uri="{FF2B5EF4-FFF2-40B4-BE49-F238E27FC236}">
                <a16:creationId xmlns:a16="http://schemas.microsoft.com/office/drawing/2014/main" id="{C455D704-3A8D-5DB7-9AA2-D930E02A1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0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01956E-A92D-D8B0-0BF4-145B1D424B90}"/>
              </a:ext>
            </a:extLst>
          </p:cNvPr>
          <p:cNvSpPr txBox="1"/>
          <p:nvPr/>
        </p:nvSpPr>
        <p:spPr>
          <a:xfrm>
            <a:off x="3393948" y="6596390"/>
            <a:ext cx="54041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1100" dirty="0">
                <a:latin typeface="Segoe UI" panose="020B0502040204020203" pitchFamily="34" charset="0"/>
                <a:cs typeface="Segoe UI" panose="020B0502040204020203" pitchFamily="34" charset="0"/>
              </a:rPr>
              <a:t>Izvor: https://www.mdpi.com/1099-4300/24/4/551</a:t>
            </a:r>
          </a:p>
        </p:txBody>
      </p:sp>
    </p:spTree>
    <p:extLst>
      <p:ext uri="{BB962C8B-B14F-4D97-AF65-F5344CB8AC3E}">
        <p14:creationId xmlns:p14="http://schemas.microsoft.com/office/powerpoint/2010/main" val="3016007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niOkvir 2">
            <a:extLst>
              <a:ext uri="{FF2B5EF4-FFF2-40B4-BE49-F238E27FC236}">
                <a16:creationId xmlns:a16="http://schemas.microsoft.com/office/drawing/2014/main" id="{2365BA17-41C2-8FE0-B3FA-71047F990EC5}"/>
              </a:ext>
            </a:extLst>
          </p:cNvPr>
          <p:cNvSpPr txBox="1"/>
          <p:nvPr/>
        </p:nvSpPr>
        <p:spPr>
          <a:xfrm>
            <a:off x="1395663" y="641685"/>
            <a:ext cx="774833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Trebalo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je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nešto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općenitije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 pretext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specifičan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nego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princip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onda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dolazi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veliki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zaokret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03E51557-0D60-FA3F-F8A3-8515D561A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913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FBA510-8C9F-F4C8-2F95-B52AC9AB2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6"/>
            <a:ext cx="11588496" cy="3436409"/>
          </a:xfrm>
        </p:spPr>
        <p:txBody>
          <a:bodyPr/>
          <a:lstStyle/>
          <a:p>
            <a:r>
              <a:rPr lang="hr-HR" sz="9600" b="1" dirty="0">
                <a:latin typeface="Segoe UI" panose="020B0502040204020203" pitchFamily="34" charset="0"/>
                <a:cs typeface="Segoe UI" panose="020B0502040204020203" pitchFamily="34" charset="0"/>
              </a:rPr>
              <a:t>Contrastive Learning</a:t>
            </a:r>
            <a:endParaRPr lang="en-US" sz="9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74C4C45-ED91-5C37-18B7-8C050A194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4266A730-1955-609A-434E-4DA5C1698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317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2CA72A3-677D-4D5B-0562-1AB36510D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36852057-02A5-9757-5B2B-DFF4517775DF}"/>
              </a:ext>
            </a:extLst>
          </p:cNvPr>
          <p:cNvSpPr txBox="1"/>
          <p:nvPr/>
        </p:nvSpPr>
        <p:spPr>
          <a:xfrm>
            <a:off x="304877" y="1242039"/>
            <a:ext cx="111251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Ideja</a:t>
            </a:r>
          </a:p>
          <a:p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Uzorci koji pripadaju istoj instanci trebaju imati slične reprezentacije,</a:t>
            </a:r>
            <a:b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a različiti uzorci trebaju biti udaljeni u prostoru značajki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961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F89FB74-AFAF-0B70-C40C-68C5887B1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AB53A86C-3A2D-D636-709D-3250B5B3475E}"/>
              </a:ext>
            </a:extLst>
          </p:cNvPr>
          <p:cNvSpPr txBox="1"/>
          <p:nvPr/>
        </p:nvSpPr>
        <p:spPr>
          <a:xfrm>
            <a:off x="368220" y="165774"/>
            <a:ext cx="10595728" cy="3890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Intuicija kontrastivnog učenja</a:t>
            </a:r>
          </a:p>
          <a:p>
            <a:pPr>
              <a:lnSpc>
                <a:spcPct val="150000"/>
              </a:lnSpc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pl-PL" sz="2800" dirty="0">
                <a:latin typeface="Segoe UI" panose="020B0502040204020203" pitchFamily="34" charset="0"/>
                <a:cs typeface="Segoe UI" panose="020B0502040204020203" pitchFamily="34" charset="0"/>
              </a:rPr>
              <a:t>Kako definirati “što je slično”, a što “različito” — bez oznaka?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Dva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različita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pogleda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istu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stvar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trebaju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biti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blizu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u embedding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prostoru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ostalo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treba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biti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daleko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75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3EC96B08-5D03-5B11-2F75-4F07910B7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A5849320-6928-64E8-8AE5-D8A7A1CE7173}"/>
              </a:ext>
            </a:extLst>
          </p:cNvPr>
          <p:cNvSpPr txBox="1"/>
          <p:nvPr/>
        </p:nvSpPr>
        <p:spPr>
          <a:xfrm>
            <a:off x="762785" y="922551"/>
            <a:ext cx="9652454" cy="1951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Cilj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treniranja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Maksimizirati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sličnost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pozitivnog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para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Minimizirati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sličnost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svim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primjerima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8369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C065FAAA-531A-775B-C45C-ED01FFF11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8D2EF0B8-C2FA-C9A2-00A4-24A979DB0FB9}"/>
              </a:ext>
            </a:extLst>
          </p:cNvPr>
          <p:cNvSpPr txBox="1"/>
          <p:nvPr/>
        </p:nvSpPr>
        <p:spPr>
          <a:xfrm>
            <a:off x="939633" y="919141"/>
            <a:ext cx="947560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Čini se jednostavno, ali upravo na toj ideji danas rade: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MoCo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SwAV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BYOL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DINO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CLIP</a:t>
            </a:r>
          </a:p>
          <a:p>
            <a:r>
              <a:rPr lang="pt-BR" sz="2800" dirty="0">
                <a:latin typeface="Segoe UI" panose="020B0502040204020203" pitchFamily="34" charset="0"/>
                <a:cs typeface="Segoe UI" panose="020B0502040204020203" pitchFamily="34" charset="0"/>
              </a:rPr>
              <a:t>i zapravo cijela moderna generacija foundation modela.</a:t>
            </a:r>
          </a:p>
        </p:txBody>
      </p:sp>
    </p:spTree>
    <p:extLst>
      <p:ext uri="{BB962C8B-B14F-4D97-AF65-F5344CB8AC3E}">
        <p14:creationId xmlns:p14="http://schemas.microsoft.com/office/powerpoint/2010/main" val="2491626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BEC8DA7-830C-6A64-8F2D-7D7A350EF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6C805973-2694-7BA3-7ADA-6C5E1E2E90CE}"/>
              </a:ext>
            </a:extLst>
          </p:cNvPr>
          <p:cNvSpPr txBox="1"/>
          <p:nvPr/>
        </p:nvSpPr>
        <p:spPr>
          <a:xfrm>
            <a:off x="585267" y="191640"/>
            <a:ext cx="10671142" cy="647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Ako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uspijemo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naučiti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model da: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ignorira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promjene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boje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ignorira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osvjetljenje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ignorira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pozadinu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ignorira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orijentaciju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ignorira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rez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kompresiju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fokusira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semantiku</a:t>
            </a:r>
            <a:endParaRPr lang="hr-HR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onda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ćemo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dobiti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invarijantne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Drugim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riječima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model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ono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što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je </a:t>
            </a:r>
            <a:r>
              <a:rPr lang="en-US" sz="28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bitno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prepoznavanje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objekata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2095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4E32B30-AB3B-69C1-26FF-61838E046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295DAD7C-F56D-B6CF-896F-5B158FE0FE18}"/>
              </a:ext>
            </a:extLst>
          </p:cNvPr>
          <p:cNvSpPr txBox="1"/>
          <p:nvPr/>
        </p:nvSpPr>
        <p:spPr>
          <a:xfrm>
            <a:off x="524109" y="936703"/>
            <a:ext cx="1147460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ga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čini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idealnim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za: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klasifikaciju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detekciju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segmentaciju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pretragu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few-shot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robotiku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percepciju</a:t>
            </a: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Model koji je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treniran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kontrastivnim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učenjem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razumije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svijet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oko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sebe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53103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5D237AC-79E1-F630-C87C-1BE38D53F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07788C14-2CC4-2DF6-0C2E-97D1C3C90017}"/>
              </a:ext>
            </a:extLst>
          </p:cNvPr>
          <p:cNvSpPr txBox="1"/>
          <p:nvPr/>
        </p:nvSpPr>
        <p:spPr>
          <a:xfrm>
            <a:off x="490654" y="706874"/>
            <a:ext cx="8917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Matematička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osnova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InfoNCE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/ NT-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Xent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Loss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351E9B-A331-055A-D832-AB83EF0BB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3407"/>
            <a:ext cx="12192000" cy="376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D48942C7-FD19-17AA-EEA0-3C1964163A93}"/>
              </a:ext>
            </a:extLst>
          </p:cNvPr>
          <p:cNvSpPr txBox="1"/>
          <p:nvPr/>
        </p:nvSpPr>
        <p:spPr>
          <a:xfrm>
            <a:off x="3063711" y="5920033"/>
            <a:ext cx="700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err="1"/>
              <a:t>Izvor:</a:t>
            </a:r>
            <a:r>
              <a:rPr lang="hr-HR" dirty="0" err="1">
                <a:hlinkClick r:id="rId4"/>
              </a:rPr>
              <a:t>Medium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Contrastive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Learning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Loss</a:t>
            </a:r>
            <a:r>
              <a:rPr lang="hr-HR" dirty="0"/>
              <a:t> , pristup 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885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B8DD5851-E1C9-ED92-2F88-1ECFAFC9B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D71637E-2E00-AAED-124F-B7774DC8E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3805"/>
            <a:ext cx="12202399" cy="342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6F9EEEBD-8073-1C9D-B57E-5A7E3A9B8DEE}"/>
              </a:ext>
            </a:extLst>
          </p:cNvPr>
          <p:cNvSpPr txBox="1"/>
          <p:nvPr/>
        </p:nvSpPr>
        <p:spPr>
          <a:xfrm>
            <a:off x="3046429" y="5444195"/>
            <a:ext cx="6099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Izvor:</a:t>
            </a:r>
            <a:r>
              <a:rPr lang="hr-HR" dirty="0" err="1">
                <a:hlinkClick r:id="rId4"/>
              </a:rPr>
              <a:t>Medium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Contrastive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Learning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Loss</a:t>
            </a:r>
            <a:r>
              <a:rPr lang="hr-HR" dirty="0"/>
              <a:t> , pristup 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1924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4288FC70-D2F6-308B-D2D1-59916C93F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AAC46B7-1E52-2D64-4D08-EAE754DAC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118" y="1080000"/>
            <a:ext cx="12314236" cy="432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1D4C5A08-68BC-FBD9-B31B-7E4171DBB1F1}"/>
              </a:ext>
            </a:extLst>
          </p:cNvPr>
          <p:cNvSpPr txBox="1"/>
          <p:nvPr/>
        </p:nvSpPr>
        <p:spPr>
          <a:xfrm>
            <a:off x="3018149" y="5778000"/>
            <a:ext cx="615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Izvor:</a:t>
            </a:r>
            <a:r>
              <a:rPr lang="hr-HR" dirty="0" err="1">
                <a:hlinkClick r:id="rId4"/>
              </a:rPr>
              <a:t>Medium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Contrastive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Learning</a:t>
            </a:r>
            <a:r>
              <a:rPr lang="hr-HR" dirty="0">
                <a:hlinkClick r:id="rId4"/>
              </a:rPr>
              <a:t> </a:t>
            </a:r>
            <a:r>
              <a:rPr lang="hr-HR" dirty="0" err="1">
                <a:hlinkClick r:id="rId4"/>
              </a:rPr>
              <a:t>Loss</a:t>
            </a:r>
            <a:r>
              <a:rPr lang="hr-HR" dirty="0"/>
              <a:t> , pristup 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37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AF747C7-3260-6A6D-C9C1-45D66744D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FDF752C5-C490-212A-CC86-E2517808BA5A}"/>
              </a:ext>
            </a:extLst>
          </p:cNvPr>
          <p:cNvSpPr txBox="1"/>
          <p:nvPr/>
        </p:nvSpPr>
        <p:spPr>
          <a:xfrm>
            <a:off x="311603" y="98546"/>
            <a:ext cx="1188039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InfoNCE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/ NT-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Xent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Loss 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Uči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tako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budu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blizu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daleko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embedding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Za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svaku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naprave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pozitivni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 par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druge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batchu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parovi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Izračuna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cosine similarity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između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Pozitivna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sličnost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ide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brojnik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sličnosti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+ neg)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nazivnik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softmax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Softmax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vjerojatnost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da je j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pravi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par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Loss = 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–log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te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vjerovatnosti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model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kažnjava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negativci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liče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pozitivca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InfoNCE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je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opći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loss,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dok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je NT-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Xent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njegova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normalizirana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temperature-scaled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verzija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korištena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-u, s cosine similarity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negativcima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5926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393B835-84DA-FAB0-BC93-C44662CA6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C33755E5-70FD-6FC4-3894-69DB0BEB29E3}"/>
              </a:ext>
            </a:extLst>
          </p:cNvPr>
          <p:cNvSpPr txBox="1"/>
          <p:nvPr/>
        </p:nvSpPr>
        <p:spPr>
          <a:xfrm>
            <a:off x="285036" y="382638"/>
            <a:ext cx="11621928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Arhitektura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modela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– veliki </a:t>
            </a: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backbone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(CNN/</a:t>
            </a: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ViT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) koji iz slike uči reprezentaciju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Projection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head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(MLP) – mapira reprezentaciju u kontrastivni prostor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Augmentacijski modul – generira dva pogleda iste instance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Contrastive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loss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InfoNCE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/NT-</a:t>
            </a:r>
            <a:r>
              <a:rPr lang="hr-H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Xent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) – približava pozitivne, udaljava negativne parove</a:t>
            </a: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7739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128F7EF0-94A1-CEC8-8626-FB8BFB8CD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9452CA60-3C38-AD00-243B-AADD3745266A}"/>
              </a:ext>
            </a:extLst>
          </p:cNvPr>
          <p:cNvSpPr txBox="1"/>
          <p:nvPr/>
        </p:nvSpPr>
        <p:spPr>
          <a:xfrm>
            <a:off x="169683" y="179110"/>
            <a:ext cx="9785022" cy="5110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najvažniji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dio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Najbolji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set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mix):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RandomResizedCrop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najvažnija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svih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Color jitter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nebitno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izazovno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Gaussian blur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potiče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robusnost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Grayscale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tjera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model da 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ovisi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boji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Horizontal flip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Ako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preslabe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model 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nauči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trivijalne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obrasce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Ako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prejake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model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izgubi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									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11331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niOkvir 2">
            <a:extLst>
              <a:ext uri="{FF2B5EF4-FFF2-40B4-BE49-F238E27FC236}">
                <a16:creationId xmlns:a16="http://schemas.microsoft.com/office/drawing/2014/main" id="{E7E5A4FF-1FBF-0CC7-1A65-79A0627512E9}"/>
              </a:ext>
            </a:extLst>
          </p:cNvPr>
          <p:cNvSpPr txBox="1"/>
          <p:nvPr/>
        </p:nvSpPr>
        <p:spPr>
          <a:xfrm>
            <a:off x="3048930" y="6076743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dirty="0">
                <a:hlinkClick r:id="rId2"/>
              </a:rPr>
              <a:t>		</a:t>
            </a:r>
            <a:r>
              <a:rPr lang="en-US" dirty="0" err="1">
                <a:hlinkClick r:id="rId2"/>
              </a:rPr>
              <a:t>Augmentacije</a:t>
            </a:r>
            <a:r>
              <a:rPr lang="hr-HR" dirty="0"/>
              <a:t> pristup 11/25</a:t>
            </a:r>
            <a:endParaRPr lang="en-US" dirty="0"/>
          </a:p>
        </p:txBody>
      </p:sp>
      <p:pic>
        <p:nvPicPr>
          <p:cNvPr id="5122" name="Picture 2" descr="Examples of data augmentation operators used in contrastive learning[27]">
            <a:extLst>
              <a:ext uri="{FF2B5EF4-FFF2-40B4-BE49-F238E27FC236}">
                <a16:creationId xmlns:a16="http://schemas.microsoft.com/office/drawing/2014/main" id="{89860971-7AEF-ABC7-27D1-E08A5F6E7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32" y="548501"/>
            <a:ext cx="10383736" cy="458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950D56D8-5AF2-2DAC-7626-0D4E2941D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350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876E72A-E939-A050-2B1E-0730964D5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A54D61E5-0CC3-2022-D3D8-4A7766E96EB6}"/>
              </a:ext>
            </a:extLst>
          </p:cNvPr>
          <p:cNvSpPr txBox="1"/>
          <p:nvPr/>
        </p:nvSpPr>
        <p:spPr>
          <a:xfrm>
            <a:off x="86411" y="257984"/>
            <a:ext cx="10815787" cy="362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T-SNE / UMAP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vizualizacije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ehnike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omogućuju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vizualizaciju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visoko-dimenzionalnih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 2D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prostoru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kako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bismo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vidjeli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je li model </a:t>
            </a:r>
            <a:r>
              <a:rPr lang="en-US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stvarno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naučio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smislen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semantički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prostor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Ovo je najbolji dokaz da kontrastivno učenje radi.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pl-PL" sz="1100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Vizualizacija</a:t>
            </a:r>
            <a:r>
              <a:rPr lang="pl-PL" sz="1100" dirty="0">
                <a:latin typeface="Segoe UI" panose="020B0502040204020203" pitchFamily="34" charset="0"/>
                <a:cs typeface="Segoe UI" panose="020B0502040204020203" pitchFamily="34" charset="0"/>
              </a:rPr>
              <a:t> pristup 11/25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F284CAE-095F-2292-790D-D2B641E17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045" y="2916757"/>
            <a:ext cx="4774562" cy="380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71560C2-6385-203E-2B36-468C256DE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992" y="2310153"/>
            <a:ext cx="4748328" cy="380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587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4CDD5D4B-E97E-E2D3-5918-97F5E6283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2FC46704-E3D0-46AB-422E-FCB4EB9483F3}"/>
              </a:ext>
            </a:extLst>
          </p:cNvPr>
          <p:cNvSpPr txBox="1"/>
          <p:nvPr/>
        </p:nvSpPr>
        <p:spPr>
          <a:xfrm>
            <a:off x="520888" y="429150"/>
            <a:ext cx="10764146" cy="5829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t-SNE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naglašava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lokalne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odnose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vizualno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privlačan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ali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nepouzdan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globalno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sporiji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manje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UMAP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čuva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lokalne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globalne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strukture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stabilniji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brži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bolji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velike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preporučena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vizualizaciju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SSL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061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17066B7-6D24-8A4A-A2B8-E4F818509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8FE5C280-8143-268C-5C31-5A7F5963DE53}"/>
              </a:ext>
            </a:extLst>
          </p:cNvPr>
          <p:cNvSpPr txBox="1"/>
          <p:nvPr/>
        </p:nvSpPr>
        <p:spPr>
          <a:xfrm>
            <a:off x="833524" y="885687"/>
            <a:ext cx="99030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endParaRPr lang="hr-H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hr-HR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sz="2800" b="1" i="1" dirty="0">
                <a:latin typeface="Segoe UI" panose="020B0502040204020203" pitchFamily="34" charset="0"/>
                <a:cs typeface="Segoe UI" panose="020B0502040204020203" pitchFamily="34" charset="0"/>
              </a:rPr>
              <a:t>A Simple Framework for Contrastive Learning of Visual Representations</a:t>
            </a:r>
            <a:endParaRPr lang="hr-HR" sz="28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b="1" i="1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, by Google Research, Brain Team</a:t>
            </a:r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2268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449CC869-9389-6D62-72F8-886AF8225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4A4FA611-FADF-A391-4F0F-F20832BA5C3A}"/>
              </a:ext>
            </a:extLst>
          </p:cNvPr>
          <p:cNvSpPr txBox="1"/>
          <p:nvPr/>
        </p:nvSpPr>
        <p:spPr>
          <a:xfrm>
            <a:off x="671660" y="566677"/>
            <a:ext cx="10356895" cy="556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hr-H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lavna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ideja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-a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je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iznimno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jednostavan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nevjerojatno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učinkovit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Praktički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cijela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je: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Uzmi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Za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svaku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napravi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nezavisne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jake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Provedi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kroz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encoder (CNN /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Provedi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kroz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projekcijsku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glavu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(MLP)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Primijeni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NT-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Xent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loss da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približiš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udaljiš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Ponovi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kroz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trening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4864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1F423E3E-FCB3-E0EB-1AD7-3553FF8B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C12A4EDD-5D4E-B9DE-AA24-8A673476106C}"/>
              </a:ext>
            </a:extLst>
          </p:cNvPr>
          <p:cNvSpPr txBox="1"/>
          <p:nvPr/>
        </p:nvSpPr>
        <p:spPr>
          <a:xfrm>
            <a:off x="223025" y="846126"/>
            <a:ext cx="11263124" cy="556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Model se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sastoji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tri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glavne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komponente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Encoder f(·)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obično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ResNet-50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ili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koji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feature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vektor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Projekcijska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glava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g(·)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mali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MLP (2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sloja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 koji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mapira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feature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gdje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primjenjuje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gubitak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NT-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Xent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loss –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gubitak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koji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mjeri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sličnost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između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Važno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tijekom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testiranja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projekcijska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glava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odbacuje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encoder.</a:t>
            </a:r>
          </a:p>
        </p:txBody>
      </p:sp>
    </p:spTree>
    <p:extLst>
      <p:ext uri="{BB962C8B-B14F-4D97-AF65-F5344CB8AC3E}">
        <p14:creationId xmlns:p14="http://schemas.microsoft.com/office/powerpoint/2010/main" val="11352731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04471E6-F7F4-EB28-D76E-ED3CE3C7D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8C55A2B3-9BB0-83CD-873D-253CB5B0F870}"/>
              </a:ext>
            </a:extLst>
          </p:cNvPr>
          <p:cNvSpPr txBox="1"/>
          <p:nvPr/>
        </p:nvSpPr>
        <p:spPr>
          <a:xfrm>
            <a:off x="405065" y="428178"/>
            <a:ext cx="11493286" cy="6948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ključ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uspjeha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-a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Najveće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otkriće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-a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nisu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tehnički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detalj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— one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definiraju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cijelu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logiku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kontrastivnog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Najbolji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mix”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RandomResizedCrop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najvažnije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!)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r-HR" sz="20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invarijantnost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položaj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skaliranje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ColorJitter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svjetlina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zasićenje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nijansa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ignorirati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promjene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boje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RandomGrayscale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sprječava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da se model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oslanja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boju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kao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shortcut.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GaussianBlur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pojačava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robusnost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generalizaciju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HorizontalFlip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4933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9EF625F-F522-DC13-DBF1-CB5760273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B6D353C7-4133-DFA1-32B8-1D638658AEC3}"/>
              </a:ext>
            </a:extLst>
          </p:cNvPr>
          <p:cNvSpPr txBox="1"/>
          <p:nvPr/>
        </p:nvSpPr>
        <p:spPr>
          <a:xfrm>
            <a:off x="468351" y="267629"/>
            <a:ext cx="8617536" cy="710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Treniranje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-a </a:t>
            </a:r>
            <a:endParaRPr lang="hr-H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Veliki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batch je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nužan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Batch = 4096 → 4095 </a:t>
            </a:r>
            <a:r>
              <a:rPr lang="hr-HR" dirty="0">
                <a:latin typeface="Segoe UI" panose="020B0502040204020203" pitchFamily="34" charset="0"/>
                <a:cs typeface="Segoe UI" panose="020B0502040204020203" pitchFamily="34" charset="0"/>
              </a:rPr>
              <a:t>negativnih parova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po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primjeru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Batch &lt; 256 → model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često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kolabira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LARS optimizer za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velike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batch-eve.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Cosine learning rate decay za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stabilnost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Warm-up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prvih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nekoliko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epoha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BatchNorm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unutar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projekcijske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glave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kritično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učenje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!).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Trajanje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treninga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100 → 800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epoha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ovisno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o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modelu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datasetu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Evaluacija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linear evaluation protocol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Zamrzne</a:t>
            </a:r>
            <a:r>
              <a:rPr lang="hr-HR" dirty="0">
                <a:latin typeface="Segoe UI" panose="020B0502040204020203" pitchFamily="34" charset="0"/>
                <a:cs typeface="Segoe UI" panose="020B0502040204020203" pitchFamily="34" charset="0"/>
              </a:rPr>
              <a:t> 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encoder (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nema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finetuninga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Nauči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i="1" dirty="0" err="1">
                <a:latin typeface="Segoe UI" panose="020B0502040204020203" pitchFamily="34" charset="0"/>
                <a:cs typeface="Segoe UI" panose="020B0502040204020203" pitchFamily="34" charset="0"/>
              </a:rPr>
              <a:t>samo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linearni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sloj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Ako je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linearna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točnost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visoka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→ encoder je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dobar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hr-H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 je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danas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standard SSL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evaluacije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07633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845AD49E-032F-6C24-9358-8D363F709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CA7A12A3-CF00-3EBE-A7CC-3D8C6A257A58}"/>
              </a:ext>
            </a:extLst>
          </p:cNvPr>
          <p:cNvSpPr txBox="1"/>
          <p:nvPr/>
        </p:nvSpPr>
        <p:spPr>
          <a:xfrm>
            <a:off x="415756" y="93247"/>
            <a:ext cx="9874783" cy="6117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Rezultati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-a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Rezultati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ImageNetu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(ResNet-50)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postiže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točnost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vrlo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blizu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nadziranog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treninga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Veće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arhitekture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(R152,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 →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još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bolji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rezultati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Značajno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poboljšanje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usporedbi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prijašnjim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SSL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metodama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Downstream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zadaci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(transfer learning):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Odličan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transfer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detekciju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segmentaciju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klasifikaciju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robusni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čak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finetuninga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U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mnogim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slučajevima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bolji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nadziranog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pretreniranja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Ključna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poanta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semantičke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t-SNE/UMAP →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jasno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formirani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klasteri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klasa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8679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C9D58EA1-7DED-423A-88AE-AB0341406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BAE5978B-A306-D593-0DD4-C1323A7CBF14}"/>
              </a:ext>
            </a:extLst>
          </p:cNvPr>
          <p:cNvSpPr txBox="1"/>
          <p:nvPr/>
        </p:nvSpPr>
        <p:spPr>
          <a:xfrm>
            <a:off x="252397" y="211873"/>
            <a:ext cx="10706493" cy="6117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Ograničenja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-a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Glavna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ograničenja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Potreban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ogroman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npr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 4096)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puno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negativnih parova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Visoki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memorijski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zahtjevi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potreban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multi-GPU/TPU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trening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memorijskog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queue-a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broj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negativnih parova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ograničen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Praktični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problemi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Trening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ekstremno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skup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spor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standardnom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hardveru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BatchNorm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projection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headu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kritičan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osjetljivost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arhitekturu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Performanse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jako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padaju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 &lt; 256</a:t>
            </a: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7203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166B7D7F-14A1-727E-8D0F-32D9379C9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A592F903-C7C8-8B6B-565C-B6797E366E2C}"/>
              </a:ext>
            </a:extLst>
          </p:cNvPr>
          <p:cNvSpPr txBox="1"/>
          <p:nvPr/>
        </p:nvSpPr>
        <p:spPr>
          <a:xfrm>
            <a:off x="575035" y="756834"/>
            <a:ext cx="95214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7200" b="1" dirty="0">
                <a:latin typeface="Segoe UI" panose="020B0502040204020203" pitchFamily="34" charset="0"/>
                <a:cs typeface="Segoe UI" panose="020B0502040204020203" pitchFamily="34" charset="0"/>
              </a:rPr>
              <a:t>NAPREDNE </a:t>
            </a:r>
          </a:p>
          <a:p>
            <a:r>
              <a:rPr lang="hr-HR" sz="7200" b="1" dirty="0">
                <a:latin typeface="Segoe UI" panose="020B0502040204020203" pitchFamily="34" charset="0"/>
                <a:cs typeface="Segoe UI" panose="020B0502040204020203" pitchFamily="34" charset="0"/>
              </a:rPr>
              <a:t>KONTRASTIVNE </a:t>
            </a:r>
          </a:p>
          <a:p>
            <a:r>
              <a:rPr lang="hr-HR" sz="7200" b="1" dirty="0"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endParaRPr lang="en-US" sz="7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5458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B909002-84B9-8D42-DC14-4F3F05793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1F054322-6CF5-173C-4419-634D921D7437}"/>
              </a:ext>
            </a:extLst>
          </p:cNvPr>
          <p:cNvSpPr txBox="1"/>
          <p:nvPr/>
        </p:nvSpPr>
        <p:spPr>
          <a:xfrm>
            <a:off x="420179" y="854736"/>
            <a:ext cx="11495596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MoCo — Momentum Contrast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(Facebook AI, 2020)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Glavni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cilj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riješiti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najveći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problem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-a →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potrebu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ogromnim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 batch-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evima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Ključna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ideja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imati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velik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broj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korištenja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enormnih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eva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Umjesto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batch-a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memorijski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queue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drugi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encoderStabilniji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efikasniji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običnom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hardveru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5170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04F945E9-3531-2058-8CA4-9FAADD9C3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067D0001-19F2-D468-BC78-D05283A7A4B1}"/>
              </a:ext>
            </a:extLst>
          </p:cNvPr>
          <p:cNvSpPr txBox="1"/>
          <p:nvPr/>
        </p:nvSpPr>
        <p:spPr>
          <a:xfrm>
            <a:off x="744914" y="184699"/>
            <a:ext cx="1089463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Kako MoCo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radi</a:t>
            </a:r>
            <a:r>
              <a:rPr lang="hr-HR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Online encoder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ažurira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normalno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SGD-om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“query”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Momentum (target) encoder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ažurira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sporije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, EMA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formulom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“key”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kontrastiranje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služi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kao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stabilan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izvor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reprezentacija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Queue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Svaki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batch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dodaje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nove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“key”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kružni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buffer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Stari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izbacuju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Omogućuje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tisuće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velikog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batcha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Kontrastivni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loss (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InfoNCE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Query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iz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online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uspoređuje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ključem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iz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target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Pozitivni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par =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iste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parovi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iz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queue-a</a:t>
            </a:r>
          </a:p>
        </p:txBody>
      </p:sp>
    </p:spTree>
    <p:extLst>
      <p:ext uri="{BB962C8B-B14F-4D97-AF65-F5344CB8AC3E}">
        <p14:creationId xmlns:p14="http://schemas.microsoft.com/office/powerpoint/2010/main" val="8981499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E6B5918E-2820-3CA0-A22F-914E0AA86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2F1F0056-66C0-1BD8-1BF9-87BE7F3CA137}"/>
              </a:ext>
            </a:extLst>
          </p:cNvPr>
          <p:cNvSpPr txBox="1"/>
          <p:nvPr/>
        </p:nvSpPr>
        <p:spPr>
          <a:xfrm>
            <a:off x="784590" y="87476"/>
            <a:ext cx="10735460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MoCo: </a:t>
            </a:r>
            <a:r>
              <a:rPr lang="en-US" sz="2400" b="1" dirty="0" err="1"/>
              <a:t>Prednosti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 mane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Prednosti</a:t>
            </a:r>
            <a:r>
              <a:rPr lang="en-US" sz="2400" b="1" dirty="0"/>
              <a:t>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Ogroman</a:t>
            </a:r>
            <a:r>
              <a:rPr lang="en-US" sz="2400" dirty="0"/>
              <a:t> </a:t>
            </a:r>
            <a:r>
              <a:rPr lang="en-US" sz="2400" dirty="0" err="1"/>
              <a:t>broj</a:t>
            </a:r>
            <a:r>
              <a:rPr lang="en-US" sz="2400" dirty="0"/>
              <a:t> </a:t>
            </a:r>
            <a:r>
              <a:rPr lang="en-US" sz="2400" dirty="0" err="1"/>
              <a:t>negativnih</a:t>
            </a:r>
            <a:r>
              <a:rPr lang="en-US" sz="2400" dirty="0"/>
              <a:t> </a:t>
            </a:r>
            <a:r>
              <a:rPr lang="en-US" sz="2400" dirty="0" err="1"/>
              <a:t>parova</a:t>
            </a:r>
            <a:r>
              <a:rPr lang="en-US" sz="2400" dirty="0"/>
              <a:t> bez </a:t>
            </a:r>
            <a:r>
              <a:rPr lang="en-US" sz="2400" dirty="0" err="1"/>
              <a:t>gigantskih</a:t>
            </a:r>
            <a:r>
              <a:rPr lang="en-US" sz="2400" dirty="0"/>
              <a:t> batch-</a:t>
            </a:r>
            <a:r>
              <a:rPr lang="en-US" sz="2400" dirty="0" err="1"/>
              <a:t>eva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Stabilan</a:t>
            </a:r>
            <a:r>
              <a:rPr lang="en-US" sz="2400" dirty="0"/>
              <a:t> </a:t>
            </a:r>
            <a:r>
              <a:rPr lang="en-US" sz="2400" dirty="0" err="1"/>
              <a:t>trening</a:t>
            </a:r>
            <a:r>
              <a:rPr lang="en-US" sz="2400" dirty="0"/>
              <a:t> </a:t>
            </a:r>
            <a:r>
              <a:rPr lang="en-US" sz="2400" dirty="0" err="1"/>
              <a:t>zahvaljujući</a:t>
            </a:r>
            <a:r>
              <a:rPr lang="en-US" sz="2400" dirty="0"/>
              <a:t> EMA </a:t>
            </a:r>
            <a:r>
              <a:rPr lang="en-US" sz="2400" dirty="0" err="1"/>
              <a:t>encoderu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Djeluje</a:t>
            </a:r>
            <a:r>
              <a:rPr lang="en-US" sz="2400" dirty="0"/>
              <a:t> dobro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običnim</a:t>
            </a:r>
            <a:r>
              <a:rPr lang="en-US" sz="2400" dirty="0"/>
              <a:t> GPU-</a:t>
            </a:r>
            <a:r>
              <a:rPr lang="en-US" sz="2400" dirty="0" err="1"/>
              <a:t>ovima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Vrlo</a:t>
            </a:r>
            <a:r>
              <a:rPr lang="en-US" sz="2400" dirty="0"/>
              <a:t> </a:t>
            </a:r>
            <a:r>
              <a:rPr lang="en-US" sz="2400" dirty="0" err="1"/>
              <a:t>dobre</a:t>
            </a:r>
            <a:r>
              <a:rPr lang="en-US" sz="2400" dirty="0"/>
              <a:t> </a:t>
            </a:r>
            <a:r>
              <a:rPr lang="en-US" sz="2400" dirty="0" err="1"/>
              <a:t>reprezentacije</a:t>
            </a:r>
            <a:r>
              <a:rPr lang="en-US" sz="2400" dirty="0"/>
              <a:t>, </a:t>
            </a:r>
            <a:r>
              <a:rPr lang="en-US" sz="2400" dirty="0" err="1"/>
              <a:t>blizu</a:t>
            </a:r>
            <a:r>
              <a:rPr lang="en-US" sz="2400" dirty="0"/>
              <a:t> </a:t>
            </a:r>
            <a:r>
              <a:rPr lang="en-US" sz="2400" dirty="0" err="1"/>
              <a:t>SimCLR</a:t>
            </a:r>
            <a:r>
              <a:rPr lang="en-US" sz="2400" dirty="0"/>
              <a:t>-a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bolje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MoCo v2/v3 </a:t>
            </a:r>
            <a:r>
              <a:rPr lang="en-US" sz="2400" dirty="0" err="1"/>
              <a:t>dodatno</a:t>
            </a:r>
            <a:r>
              <a:rPr lang="en-US" sz="2400" dirty="0"/>
              <a:t> </a:t>
            </a:r>
            <a:r>
              <a:rPr lang="en-US" sz="2400" dirty="0" err="1"/>
              <a:t>poboljšavaju</a:t>
            </a:r>
            <a:r>
              <a:rPr lang="en-US" sz="2400" dirty="0"/>
              <a:t> </a:t>
            </a:r>
            <a:r>
              <a:rPr lang="en-US" sz="2400" dirty="0" err="1"/>
              <a:t>performanse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Mane: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Arhitektura</a:t>
            </a:r>
            <a:r>
              <a:rPr lang="en-US" sz="2400" dirty="0"/>
              <a:t> </a:t>
            </a:r>
            <a:r>
              <a:rPr lang="en-US" sz="2400" dirty="0" err="1"/>
              <a:t>složenija</a:t>
            </a:r>
            <a:r>
              <a:rPr lang="en-US" sz="2400" dirty="0"/>
              <a:t> od </a:t>
            </a:r>
            <a:r>
              <a:rPr lang="en-US" sz="2400" dirty="0" err="1"/>
              <a:t>SimCLR</a:t>
            </a:r>
            <a:r>
              <a:rPr lang="en-US" sz="2400" dirty="0"/>
              <a:t>-a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Ovisnost</a:t>
            </a:r>
            <a:r>
              <a:rPr lang="en-US" sz="2400" dirty="0"/>
              <a:t> o queue-u (</a:t>
            </a:r>
            <a:r>
              <a:rPr lang="en-US" sz="2400" dirty="0" err="1"/>
              <a:t>memorijska</a:t>
            </a:r>
            <a:r>
              <a:rPr lang="en-US" sz="2400" dirty="0"/>
              <a:t> bank)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Trening</a:t>
            </a:r>
            <a:r>
              <a:rPr lang="en-US" sz="2400" dirty="0"/>
              <a:t> je </a:t>
            </a:r>
            <a:r>
              <a:rPr lang="en-US" sz="2400" dirty="0" err="1"/>
              <a:t>sporiji</a:t>
            </a:r>
            <a:r>
              <a:rPr lang="en-US" sz="2400" dirty="0"/>
              <a:t> </a:t>
            </a:r>
            <a:r>
              <a:rPr lang="en-US" sz="2400" dirty="0" err="1"/>
              <a:t>zbog</a:t>
            </a:r>
            <a:r>
              <a:rPr lang="en-US" sz="2400" dirty="0"/>
              <a:t> </a:t>
            </a:r>
            <a:r>
              <a:rPr lang="en-US" sz="2400" dirty="0" err="1"/>
              <a:t>dvaju</a:t>
            </a:r>
            <a:r>
              <a:rPr lang="en-US" sz="2400" dirty="0"/>
              <a:t> encoder </a:t>
            </a:r>
            <a:r>
              <a:rPr lang="en-US" sz="2400" dirty="0" err="1"/>
              <a:t>mreža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Ne </a:t>
            </a:r>
            <a:r>
              <a:rPr lang="en-US" sz="2400" dirty="0" err="1"/>
              <a:t>uklanja</a:t>
            </a:r>
            <a:r>
              <a:rPr lang="en-US" sz="2400" dirty="0"/>
              <a:t> </a:t>
            </a:r>
            <a:r>
              <a:rPr lang="en-US" sz="2400" dirty="0" err="1"/>
              <a:t>negativne</a:t>
            </a:r>
            <a:r>
              <a:rPr lang="en-US" sz="2400" dirty="0"/>
              <a:t> </a:t>
            </a:r>
            <a:r>
              <a:rPr lang="en-US" sz="2400" dirty="0" err="1"/>
              <a:t>parove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BYOL</a:t>
            </a:r>
          </a:p>
        </p:txBody>
      </p:sp>
    </p:spTree>
    <p:extLst>
      <p:ext uri="{BB962C8B-B14F-4D97-AF65-F5344CB8AC3E}">
        <p14:creationId xmlns:p14="http://schemas.microsoft.com/office/powerpoint/2010/main" val="18768272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E0E77BDD-0241-EFD2-EC56-9CDAD5F4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9D61273C-A718-6DA6-8F9E-C9DA73D60E89}"/>
              </a:ext>
            </a:extLst>
          </p:cNvPr>
          <p:cNvSpPr txBox="1"/>
          <p:nvPr/>
        </p:nvSpPr>
        <p:spPr>
          <a:xfrm>
            <a:off x="257176" y="710668"/>
            <a:ext cx="12068174" cy="500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SwAV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— Swapped Assignment Between Views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SwAV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(Facebook AI, 2020)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Prva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spaja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klasteriranje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self-supervised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učenje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Radi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Cilj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različite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iste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trebaju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biti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dodijeljene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istom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klasteru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praksi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efikasna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tzv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 swapped prediction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mehanizam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1021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93295C3-F590-AD66-F97B-5CC52E804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A7AA6D0B-C31B-F56E-D1B8-947CEC978714}"/>
              </a:ext>
            </a:extLst>
          </p:cNvPr>
          <p:cNvSpPr txBox="1"/>
          <p:nvPr/>
        </p:nvSpPr>
        <p:spPr>
          <a:xfrm>
            <a:off x="533399" y="647700"/>
            <a:ext cx="1174432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Kako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SwAV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radi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Embedding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centroidi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nakon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embedding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Embedding se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mapira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K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k-means)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Swapped prediction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predviđa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predviđa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hr-HR" sz="2400" dirty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odel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da oba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pogleda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pripadaju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istoj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semantici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Sinkhorn-Knopp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normalizacija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Osigurava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da se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ravnomjerno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Sprječava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kolaps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(da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pripadne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jednom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Multi-crop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Puno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rezova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(2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velika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više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malih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Veća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robusnost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bolja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pokrivenost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171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81881DC-5239-BA1E-FDF2-0EF051FDF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2E148771-DF26-9CBD-BFCE-403C28A74E7E}"/>
              </a:ext>
            </a:extLst>
          </p:cNvPr>
          <p:cNvSpPr txBox="1"/>
          <p:nvPr/>
        </p:nvSpPr>
        <p:spPr>
          <a:xfrm>
            <a:off x="523090" y="540000"/>
            <a:ext cx="10697360" cy="6117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hr-H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wAV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Prednosti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mane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Prednosti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Radi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Nema queue-a,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nema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EMA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encodera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zahtijeva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velike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batch-eve (za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razliku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-a)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Multi-crop =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učinkovitije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korištenje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Mane: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uvode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dodatnu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kompleksnost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Hyperparametri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klasteriranja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osjetljivi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dataset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Potrebno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održavati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ravnotežu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(Sinkhorn)</a:t>
            </a:r>
          </a:p>
        </p:txBody>
      </p:sp>
    </p:spTree>
    <p:extLst>
      <p:ext uri="{BB962C8B-B14F-4D97-AF65-F5344CB8AC3E}">
        <p14:creationId xmlns:p14="http://schemas.microsoft.com/office/powerpoint/2010/main" val="37993932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BEED608-025D-85AB-2F1E-F2EA0110E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BF2AE886-EC13-8BFB-F539-E8BAE119E517}"/>
              </a:ext>
            </a:extLst>
          </p:cNvPr>
          <p:cNvSpPr txBox="1"/>
          <p:nvPr/>
        </p:nvSpPr>
        <p:spPr>
          <a:xfrm>
            <a:off x="618831" y="147825"/>
            <a:ext cx="9220494" cy="6117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BYOL — Bootstrap Your Own Latent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BYOL (DeepMind, 2020)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Najveći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paradoks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” u SSL-u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Radi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mreže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Online network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Target network (EMA,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ciljevi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Postiže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vrhunske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rezultate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često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bolje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/MoCo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055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B6B70DB-D2D5-0E2E-C10E-EC6F83E6C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6F9D31A3-E393-4D98-CFBA-C656282CA6CE}"/>
              </a:ext>
            </a:extLst>
          </p:cNvPr>
          <p:cNvSpPr txBox="1"/>
          <p:nvPr/>
        </p:nvSpPr>
        <p:spPr>
          <a:xfrm>
            <a:off x="536444" y="0"/>
            <a:ext cx="10493506" cy="6919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Arhitektura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grane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Online network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Encoder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Projection head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Predictor (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ključna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komponenta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!)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Target network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Encoder + projection head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EMA update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Stop-gradient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blokiran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Mehanizam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rada: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augmentacije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iste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pogleda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Online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mreža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pokušava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predvidjeti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target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mreže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Target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mreža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ne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trenira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direktno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ciljevi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Predictor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osigurava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da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učenje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ne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kolabira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Loss = L2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udaljenost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između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predikcije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online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mreže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target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embeddinga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05593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0A292CB-3491-77FB-A5EB-E8814D57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2432BA36-B279-F12B-58AC-7D6660F8610F}"/>
              </a:ext>
            </a:extLst>
          </p:cNvPr>
          <p:cNvSpPr txBox="1"/>
          <p:nvPr/>
        </p:nvSpPr>
        <p:spPr>
          <a:xfrm>
            <a:off x="394158" y="93247"/>
            <a:ext cx="12083591" cy="667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BYOL: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Prednosti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mane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Prednosti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Radi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negativnih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parova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treba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velike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batch-eve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stabilan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trening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Jednostavniji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nego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SwAV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nema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Bolje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performanse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MoCo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istom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hardveru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Jedna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od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najefikasnijih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SSL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danas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Mane: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Mechanizam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protiv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kolapsa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teže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intuitivan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Predictor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povećava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kompleksnost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pažljivog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EMA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updatea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model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može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kolabirati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Malo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sporiji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zbog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dvije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mreže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410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FA8BF395-0CF2-ECAC-D7AE-DD7E3C71B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ica 5">
            <a:extLst>
              <a:ext uri="{FF2B5EF4-FFF2-40B4-BE49-F238E27FC236}">
                <a16:creationId xmlns:a16="http://schemas.microsoft.com/office/drawing/2014/main" id="{F6CAE066-4407-9F6A-A721-D2415C599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19045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/>
              <a:tblGrid>
                <a:gridCol w="1741714">
                  <a:extLst>
                    <a:ext uri="{9D8B030D-6E8A-4147-A177-3AD203B41FA5}">
                      <a16:colId xmlns:a16="http://schemas.microsoft.com/office/drawing/2014/main" val="247123385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45960361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7572172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89042283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31426212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65514979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723998320"/>
                    </a:ext>
                  </a:extLst>
                </a:gridCol>
              </a:tblGrid>
              <a:tr h="85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Metoda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Pozitivni / Negativni parovi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Glavni mehanizam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Batch zahtjev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Ključna inovacija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Prednosti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Mane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18468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SimCLR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Pozitivni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✔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negativni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iz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batcha)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NT-Xent kontrastivni loss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Vrlo velik batch (≥4096)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Jako augmentacije + projection head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Jednostavan, čist framework; odlične reprezentacije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Ekstremni zahtjevi za batch; skupo treniranje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23886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MoCo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 Pozitivni + ✔ negativni (iz queue-a)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Momentum encoder + memory queue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Normalan batch (128–256)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Veliki queue + EMA encoder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Stabilno, skalabilno, radi na manjim batch-evima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Dvije mreže; kompliciraniji sustav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16641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SwAV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 Pozitivni — ❌ negativni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Online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klasteriranje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prototipi</a:t>
                      </a:r>
                      <a:endParaRPr lang="en-US" sz="14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Normalan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batch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Swapped prediction + Sinkhorn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Bez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negativnih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parova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;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vrlo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stabilno</a:t>
                      </a: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; multi-crop </a:t>
                      </a:r>
                      <a:r>
                        <a:rPr lang="en-US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učinkovit</a:t>
                      </a:r>
                      <a:endParaRPr lang="en-US" sz="14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Prototipi i balansiranje dodaju kompleksnost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63959"/>
                  </a:ext>
                </a:extLst>
              </a:tr>
              <a:tr h="1885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BYOL</a:t>
                      </a: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 Pozitivni — ❌ negativni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Online–target učenje + predictor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Normalan batch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EMA target + stop-grad + predictor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Najbolja stabilnost; vrhunske performanse; nema negativnih parova</a:t>
                      </a: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Teže</a:t>
                      </a:r>
                      <a:r>
                        <a:rPr lang="it-IT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it-IT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intuitivan</a:t>
                      </a:r>
                      <a:r>
                        <a:rPr lang="it-IT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; </a:t>
                      </a:r>
                      <a:r>
                        <a:rPr lang="it-IT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ovisi</a:t>
                      </a:r>
                      <a:r>
                        <a:rPr lang="it-IT" sz="1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o EMA i </a:t>
                      </a:r>
                      <a:r>
                        <a:rPr lang="it-IT" sz="14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prediktoru</a:t>
                      </a:r>
                      <a:endParaRPr lang="it-IT" sz="14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7089" marR="47089" marT="23545" marB="235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103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7373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3A36F54-24E3-D90A-6A15-15755261E5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sz="9600" b="1" dirty="0">
                <a:latin typeface="Segoe UI" panose="020B0502040204020203" pitchFamily="34" charset="0"/>
                <a:cs typeface="Segoe UI" panose="020B0502040204020203" pitchFamily="34" charset="0"/>
              </a:rPr>
              <a:t>EVALUACIJA I BENCHMARKING</a:t>
            </a:r>
            <a:endParaRPr lang="en-US" sz="9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085605A-B477-87F1-5D9A-9863E1B09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D4A53CF2-B2CC-7B45-EB6B-D6ABAFB77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8077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5CC282D3-B3FA-D6FB-DEF0-ECAB39457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EC1F7BB-C409-669E-9B0B-F7E7F557C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882" y="203063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71C68A-C0C6-51F9-E4D7-9718FD43A65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7585" y="1280202"/>
            <a:ext cx="10395214" cy="223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 self-/semi-supervised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učenju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nema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tijekom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pretreniranja</a:t>
            </a:r>
            <a:endParaRPr lang="hr-HR" alt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Klasično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mjerenje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točnosti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→ ne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vrijedi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Treba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provjeriti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je li model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naučio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korisne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Koristimo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posebne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protokole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procjenu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kvalitete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značajki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2204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CB9063AE-B494-87D6-907F-3495433A7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645FCFAF-55E3-9E48-0EF9-52B92837CCAC}"/>
              </a:ext>
            </a:extLst>
          </p:cNvPr>
          <p:cNvSpPr txBox="1"/>
          <p:nvPr/>
        </p:nvSpPr>
        <p:spPr>
          <a:xfrm>
            <a:off x="628650" y="581025"/>
            <a:ext cx="10772775" cy="39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Dobre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slične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slike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blizu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embedding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Prenosive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rade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drugim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zadacima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Robusne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otporne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šum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transformacije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Kompaktne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suvišnog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šuma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SSL-a =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značajki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točnosti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5144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1951A75B-0351-BA81-814E-D90138152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24C80A3A-F0D6-BA19-295D-8AE88186840C}"/>
              </a:ext>
            </a:extLst>
          </p:cNvPr>
          <p:cNvSpPr txBox="1"/>
          <p:nvPr/>
        </p:nvSpPr>
        <p:spPr>
          <a:xfrm>
            <a:off x="542925" y="419100"/>
            <a:ext cx="8598718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Najčešći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protokoli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Linear Evaluation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Few-Shot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Evaluacija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Svatko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mjeri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drugačiji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aspekt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Linear: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kvaliteta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značajki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Transfer: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prenosivost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Few-shot: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generalizacija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primjera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100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8CD334C-86FA-F363-949A-D6DD5F738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E45C4C14-410B-6F89-FCC9-C911F984ADF5}"/>
              </a:ext>
            </a:extLst>
          </p:cNvPr>
          <p:cNvSpPr txBox="1"/>
          <p:nvPr/>
        </p:nvSpPr>
        <p:spPr>
          <a:xfrm>
            <a:off x="643379" y="895334"/>
            <a:ext cx="10681845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Linear Evaluation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Zamrznemo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encoder (bez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finetuninga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Dodamo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1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linearni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sloj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vrh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Treniramo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linearni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sloj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oznakama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Ako je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točnost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visoka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encoder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naučio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značajke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Čista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mjera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koliko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 je embedding </a:t>
            </a:r>
            <a:r>
              <a:rPr lang="en-US" sz="2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dobar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2547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8B1C4D2-B0FF-6FFB-22AA-C98809FF7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39E58032-6460-A316-2A87-E798F96FFB11}"/>
              </a:ext>
            </a:extLst>
          </p:cNvPr>
          <p:cNvSpPr txBox="1"/>
          <p:nvPr/>
        </p:nvSpPr>
        <p:spPr>
          <a:xfrm>
            <a:off x="609109" y="882900"/>
            <a:ext cx="10373215" cy="334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Primjer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ImageNet/CIFAR):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Supervised model (100%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labela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): ~94%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SimCLR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+ linear eval (0%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labela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pretreningu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): ~92%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Self-supervised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gotovo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jednako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dobre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nadzirane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Dokaz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model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semantičku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strukturu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98353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7F498B97-70D2-8B88-4B1A-688B060F7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260B3356-AE85-6DCB-F2DD-6137F621492E}"/>
              </a:ext>
            </a:extLst>
          </p:cNvPr>
          <p:cNvSpPr txBox="1"/>
          <p:nvPr/>
        </p:nvSpPr>
        <p:spPr>
          <a:xfrm>
            <a:off x="408789" y="1209659"/>
            <a:ext cx="10783085" cy="500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Pretrain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velikom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neoznačenom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skupu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Fine-tune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novom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zadatku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detekcija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segmentacija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…)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Mjerimo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brzinu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konvergencije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konačnu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točnost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Ako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radi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bolje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reprezentacije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prenosive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Koristi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se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industriji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(COCO, medical imaging,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sateliti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50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07CFED59-C365-F2DA-D660-E68562DBB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13CFE3E0-CE39-39E8-63B7-A38E71F20164}"/>
              </a:ext>
            </a:extLst>
          </p:cNvPr>
          <p:cNvSpPr txBox="1"/>
          <p:nvPr/>
        </p:nvSpPr>
        <p:spPr>
          <a:xfrm>
            <a:off x="658108" y="994275"/>
            <a:ext cx="11419591" cy="39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Primjer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(BYOL pretraining → COCO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detekcija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Supervised ResNet-50: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~38.5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BYOL pretrain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~40.1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Self-supervised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često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nadmašuje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nadzirano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pretreniranje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Gigantski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praktični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benefit.</a:t>
            </a:r>
          </a:p>
        </p:txBody>
      </p:sp>
    </p:spTree>
    <p:extLst>
      <p:ext uri="{BB962C8B-B14F-4D97-AF65-F5344CB8AC3E}">
        <p14:creationId xmlns:p14="http://schemas.microsoft.com/office/powerpoint/2010/main" val="7826837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7446B62-5A0A-3CFF-058C-BFF0DF34E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AE971089-EC6C-453B-E6E4-FB01ED510D14}"/>
              </a:ext>
            </a:extLst>
          </p:cNvPr>
          <p:cNvSpPr txBox="1"/>
          <p:nvPr/>
        </p:nvSpPr>
        <p:spPr>
          <a:xfrm>
            <a:off x="409576" y="914400"/>
            <a:ext cx="10982324" cy="334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FEW – SHOT EVALUACIJA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imamo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labela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N-way K-shot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protokol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 =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broj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klasa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K =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primjera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po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klasi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Visoka few-shot accuracy → model dobro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generalizira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Bitno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za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realne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probleme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s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anotacija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49414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86488C0E-B7C4-5774-9460-B491EC199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3E3AAC5F-773B-1480-D2F0-7B1A5955B712}"/>
              </a:ext>
            </a:extLst>
          </p:cNvPr>
          <p:cNvSpPr txBox="1"/>
          <p:nvPr/>
        </p:nvSpPr>
        <p:spPr>
          <a:xfrm>
            <a:off x="1134261" y="1508199"/>
            <a:ext cx="10171914" cy="223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k-NN u embedding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(bez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treniranja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Prototipne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metode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(centroid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svake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klase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Mjeri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strukturu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prostora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značajki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Evo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vrlo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brzo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pouzdano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često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korišteno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radovima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8162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6DB42CA2-7E4F-BC4E-AD72-43A68B233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CC035055-4E4A-BF83-EE3F-35C8351DF7DD}"/>
              </a:ext>
            </a:extLst>
          </p:cNvPr>
          <p:cNvSpPr txBox="1"/>
          <p:nvPr/>
        </p:nvSpPr>
        <p:spPr>
          <a:xfrm>
            <a:off x="303622" y="179841"/>
            <a:ext cx="6094428" cy="649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Benchmark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skupovi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metrike</a:t>
            </a: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hr-H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Dataseti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ImageNet –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glavna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referenca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CIFAR-10/100 –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brzo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testiranje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STL-10 –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kombinira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labelled +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unlabelled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COCO / Pascal VOC –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detekcija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segmentacija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Metrike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Top-1 / Top-5 accuracy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detekcija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NMI / ARI (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klasteri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➡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Standardizirani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protokoli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omogućuju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usporedivost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569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08F2C45-94A0-9305-A6BB-21C1CDEC3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9E9B425C-A195-7246-25A1-A8B13EA8D38A}"/>
              </a:ext>
            </a:extLst>
          </p:cNvPr>
          <p:cNvSpPr txBox="1"/>
          <p:nvPr/>
        </p:nvSpPr>
        <p:spPr>
          <a:xfrm>
            <a:off x="671856" y="883304"/>
            <a:ext cx="11243919" cy="39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Zaključak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kako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znamo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da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radi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Linear eval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kvalitetne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značajke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Transfer learning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prenosivost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Few-shot →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generalizacija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malo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podataka</a:t>
            </a:r>
            <a:endParaRPr lang="hr-H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Ako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metoda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ima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dobre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rezultate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u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svemu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naučila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je “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pravu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semantiku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hr-H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Self-supervised model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uči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razumjeti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svijet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i="1" dirty="0">
                <a:latin typeface="Segoe UI" panose="020B0502040204020203" pitchFamily="34" charset="0"/>
                <a:cs typeface="Segoe UI" panose="020B0502040204020203" pitchFamily="34" charset="0"/>
              </a:rPr>
              <a:t>bez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oznaka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11384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CDC9DD2-1C66-80A4-36F5-9354305144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sz="11500" dirty="0">
                <a:latin typeface="Segoe UI" panose="020B0502040204020203" pitchFamily="34" charset="0"/>
                <a:cs typeface="Segoe UI" panose="020B0502040204020203" pitchFamily="34" charset="0"/>
              </a:rPr>
              <a:t>PRIMJENE I TESTIRANJE</a:t>
            </a:r>
            <a:endParaRPr lang="en-US" sz="1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864D276-A273-65FB-B122-B7325E4C7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AD95F425-1128-D535-C338-CE515B7F1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617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0778554-6D49-056D-25E2-359DACAF4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DC2800EA-3635-FED0-91BC-82E822FBA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08" y="540000"/>
            <a:ext cx="3693575" cy="5128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medicina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sateliti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autonomna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vožnja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robotika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audio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NLP (BERT, GPT, CLIP)</a:t>
            </a:r>
          </a:p>
        </p:txBody>
      </p:sp>
    </p:spTree>
    <p:extLst>
      <p:ext uri="{BB962C8B-B14F-4D97-AF65-F5344CB8AC3E}">
        <p14:creationId xmlns:p14="http://schemas.microsoft.com/office/powerpoint/2010/main" val="25592350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A35DBBDD-F03A-F362-654D-77A535B26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628337-EA77-29AD-6108-150F92B8E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970891"/>
              </p:ext>
            </p:extLst>
          </p:nvPr>
        </p:nvGraphicFramePr>
        <p:xfrm>
          <a:off x="766326" y="1143000"/>
          <a:ext cx="10753724" cy="2286000"/>
        </p:xfrm>
        <a:graphic>
          <a:graphicData uri="http://schemas.openxmlformats.org/drawingml/2006/table">
            <a:tbl>
              <a:tblPr/>
              <a:tblGrid>
                <a:gridCol w="2688431">
                  <a:extLst>
                    <a:ext uri="{9D8B030D-6E8A-4147-A177-3AD203B41FA5}">
                      <a16:colId xmlns:a16="http://schemas.microsoft.com/office/drawing/2014/main" val="1987136395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1480146028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054664769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79564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Scenarij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Pretraining labela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Labela za klasifikator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Test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83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SimCLR encoder + linear head (sve labele)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53.01%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94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/>
                        <a:t>SimCLR encoder + linear head (malo labela)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~2% (100 po klasi)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45.71%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05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Random encoder + linear head (malo labela)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– (nasumičan)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~2% (100 po klasi)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 dirty="0"/>
                        <a:t>22.46%</a:t>
                      </a:r>
                      <a:endParaRPr lang="hr-H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2746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184BC21-908D-1970-9603-372F1C065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132" y="4031675"/>
            <a:ext cx="7585736" cy="1930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A5C7EE-45AA-B38F-D3E9-2A0FC4619772}"/>
              </a:ext>
            </a:extLst>
          </p:cNvPr>
          <p:cNvSpPr txBox="1"/>
          <p:nvPr/>
        </p:nvSpPr>
        <p:spPr>
          <a:xfrm>
            <a:off x="766326" y="355334"/>
            <a:ext cx="929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CIFAR 10: https://www.cs.toronto.edu/~kriz/cifar.html</a:t>
            </a:r>
          </a:p>
        </p:txBody>
      </p:sp>
    </p:spTree>
    <p:extLst>
      <p:ext uri="{BB962C8B-B14F-4D97-AF65-F5344CB8AC3E}">
        <p14:creationId xmlns:p14="http://schemas.microsoft.com/office/powerpoint/2010/main" val="21028418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C88D8A68-B744-58EC-EE00-8F152D00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928434-949B-B14B-07E1-13F8E5092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73321"/>
              </p:ext>
            </p:extLst>
          </p:nvPr>
        </p:nvGraphicFramePr>
        <p:xfrm>
          <a:off x="719137" y="848849"/>
          <a:ext cx="10753725" cy="1828800"/>
        </p:xfrm>
        <a:graphic>
          <a:graphicData uri="http://schemas.openxmlformats.org/drawingml/2006/table">
            <a:tbl>
              <a:tblPr/>
              <a:tblGrid>
                <a:gridCol w="3584575">
                  <a:extLst>
                    <a:ext uri="{9D8B030D-6E8A-4147-A177-3AD203B41FA5}">
                      <a16:colId xmlns:a16="http://schemas.microsoft.com/office/drawing/2014/main" val="2030161605"/>
                    </a:ext>
                  </a:extLst>
                </a:gridCol>
                <a:gridCol w="3584575">
                  <a:extLst>
                    <a:ext uri="{9D8B030D-6E8A-4147-A177-3AD203B41FA5}">
                      <a16:colId xmlns:a16="http://schemas.microsoft.com/office/drawing/2014/main" val="1524396554"/>
                    </a:ext>
                  </a:extLst>
                </a:gridCol>
                <a:gridCol w="3584575">
                  <a:extLst>
                    <a:ext uri="{9D8B030D-6E8A-4147-A177-3AD203B41FA5}">
                      <a16:colId xmlns:a16="http://schemas.microsoft.com/office/drawing/2014/main" val="2318722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Encoder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Best linear 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k-NN 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506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 dirty="0"/>
                        <a:t>Random</a:t>
                      </a:r>
                      <a:endParaRPr lang="hr-H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30.25%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26.46%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SimCLR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 dirty="0"/>
                        <a:t>53.99%</a:t>
                      </a:r>
                      <a:endParaRPr lang="hr-H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48.04%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66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MoCo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52.86%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46.64%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31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BYOL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/>
                        <a:t>50.63%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b="1" dirty="0"/>
                        <a:t>44.58%</a:t>
                      </a:r>
                      <a:endParaRPr lang="hr-H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54989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E79B8C4-F26B-0821-DAA8-A0A2D2971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364" y="4842078"/>
            <a:ext cx="6400748" cy="187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243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B2AD569E-E8B5-22B9-9DBB-0F501147C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4BBFAF-87AF-7606-B7C2-95C6BD37B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526"/>
          <a:stretch>
            <a:fillRect/>
          </a:stretch>
        </p:blipFill>
        <p:spPr>
          <a:xfrm>
            <a:off x="4150717" y="4315968"/>
            <a:ext cx="8141169" cy="2542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F4B42-1837-5F8E-A3DE-09D1F516E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8951976" cy="4833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DD9292-EE71-4079-E941-29E5A185AB23}"/>
              </a:ext>
            </a:extLst>
          </p:cNvPr>
          <p:cNvSpPr txBox="1"/>
          <p:nvPr/>
        </p:nvSpPr>
        <p:spPr>
          <a:xfrm>
            <a:off x="153611" y="5595042"/>
            <a:ext cx="351697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dirty="0">
                <a:latin typeface="Segoe UI" panose="020B0502040204020203" pitchFamily="34" charset="0"/>
                <a:cs typeface="Segoe UI" panose="020B0502040204020203" pitchFamily="34" charset="0"/>
              </a:rPr>
              <a:t>DATASET STL-10</a:t>
            </a:r>
          </a:p>
          <a:p>
            <a:r>
              <a:rPr lang="hr-HR" sz="1100" dirty="0">
                <a:solidFill>
                  <a:srgbClr val="00B0F0"/>
                </a:solidFill>
              </a:rPr>
              <a:t>https://www.kaggle.com/datasets/jessicali9530/stl10</a:t>
            </a:r>
          </a:p>
        </p:txBody>
      </p:sp>
    </p:spTree>
    <p:extLst>
      <p:ext uri="{BB962C8B-B14F-4D97-AF65-F5344CB8AC3E}">
        <p14:creationId xmlns:p14="http://schemas.microsoft.com/office/powerpoint/2010/main" val="14182345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mart sticker">
            <a:extLst>
              <a:ext uri="{FF2B5EF4-FFF2-40B4-BE49-F238E27FC236}">
                <a16:creationId xmlns:a16="http://schemas.microsoft.com/office/drawing/2014/main" id="{D61DB182-8C12-8F57-ED1E-AA2AFB77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35CFB7-A184-18D2-3129-191140441944}"/>
              </a:ext>
            </a:extLst>
          </p:cNvPr>
          <p:cNvSpPr txBox="1"/>
          <p:nvPr/>
        </p:nvSpPr>
        <p:spPr>
          <a:xfrm>
            <a:off x="0" y="2181886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KOD I IMPLEMENTACIJE:</a:t>
            </a:r>
          </a:p>
          <a:p>
            <a:pPr algn="ctr"/>
            <a:endParaRPr lang="hr-HR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hr-HR" sz="3200" dirty="0">
                <a:latin typeface="Segoe UI" panose="020B0502040204020203" pitchFamily="34" charset="0"/>
                <a:cs typeface="Segoe UI" panose="020B0502040204020203" pitchFamily="34" charset="0"/>
              </a:rPr>
              <a:t>https://github.com/Samke004/Deep-learning#</a:t>
            </a:r>
          </a:p>
        </p:txBody>
      </p:sp>
    </p:spTree>
    <p:extLst>
      <p:ext uri="{BB962C8B-B14F-4D97-AF65-F5344CB8AC3E}">
        <p14:creationId xmlns:p14="http://schemas.microsoft.com/office/powerpoint/2010/main" val="31348408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A64D48B-4244-50CA-86C7-F4B68B46F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70467"/>
            <a:ext cx="12192000" cy="3268133"/>
          </a:xfrm>
        </p:spPr>
        <p:txBody>
          <a:bodyPr/>
          <a:lstStyle/>
          <a:p>
            <a:pPr algn="ctr"/>
            <a:r>
              <a:rPr lang="hr-HR" sz="8000" b="1" dirty="0">
                <a:latin typeface="Segoe UI" panose="020B0502040204020203" pitchFamily="34" charset="0"/>
                <a:cs typeface="Segoe UI" panose="020B0502040204020203" pitchFamily="34" charset="0"/>
              </a:rPr>
              <a:t>HVALA NA POZORNOSTI</a:t>
            </a:r>
            <a:br>
              <a:rPr lang="hr-HR" sz="8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8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23EEA168-ACFF-4402-9710-DB1933DFC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r-HR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PITANJA?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Smart sticker">
            <a:extLst>
              <a:ext uri="{FF2B5EF4-FFF2-40B4-BE49-F238E27FC236}">
                <a16:creationId xmlns:a16="http://schemas.microsoft.com/office/drawing/2014/main" id="{1041CE2C-BCF5-65BA-C521-395BFEEBC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101" y="0"/>
            <a:ext cx="13438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8804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1061</TotalTime>
  <Words>4029</Words>
  <Application>Microsoft Office PowerPoint</Application>
  <PresentationFormat>Widescreen</PresentationFormat>
  <Paragraphs>705</Paragraphs>
  <Slides>90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Arial</vt:lpstr>
      <vt:lpstr>Baskerville Old Face</vt:lpstr>
      <vt:lpstr>Calibri</vt:lpstr>
      <vt:lpstr>Calibri Light</vt:lpstr>
      <vt:lpstr>Segoe UI</vt:lpstr>
      <vt:lpstr>Metropolitan</vt:lpstr>
      <vt:lpstr>Semi supervised learning, Self supervised, contrastive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Semi-Supervised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Self-Supervised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Contrastive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EVALUACIJA I BENCHMARKING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PRIMJENE I TESTIRANJE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HVALA NA POZORNOSTI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ADŽIĆ</dc:creator>
  <cp:lastModifiedBy>SAMUEL ADŽIĆ</cp:lastModifiedBy>
  <cp:revision>234</cp:revision>
  <dcterms:created xsi:type="dcterms:W3CDTF">2025-11-12T15:47:45Z</dcterms:created>
  <dcterms:modified xsi:type="dcterms:W3CDTF">2025-11-26T20:58:08Z</dcterms:modified>
</cp:coreProperties>
</file>